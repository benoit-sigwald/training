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 CONSULTING · AI TRAINING · SÉANCE D'OUVERTURE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 ans,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douzaine de noms.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Tout part d'un besoin que personne ne savait satisfaire : prévoir le temps. C'est lui qui a justifié de construire la machine — et le domaine a changé d'étiquette à chaque déception depuis.</a:t>
            </a:r>
            <a:endParaRPr lang="en-US" sz="1500" dirty="0"/>
          </a:p>
        </p:txBody>
      </p:sp>
      <p:pic>
        <p:nvPicPr>
          <p:cNvPr id="5" name="Image 0" descr="Arx Consul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4624" y="777240"/>
            <a:ext cx="1984248" cy="217627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4297680"/>
            <a:ext cx="10911535" cy="0"/>
          </a:xfrm>
          <a:prstGeom prst="line">
            <a:avLst/>
          </a:prstGeom>
          <a:noFill/>
          <a:ln w="25400">
            <a:solidFill>
              <a:srgbClr val="A9A9A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24712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8" name="Text 5"/>
          <p:cNvSpPr/>
          <p:nvPr/>
        </p:nvSpPr>
        <p:spPr>
          <a:xfrm>
            <a:off x="530352" y="367588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1922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530352" y="448056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Prévoir le temps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30352" y="49194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besoin qui fera la machine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523744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12" name="Text 9"/>
          <p:cNvSpPr/>
          <p:nvPr/>
        </p:nvSpPr>
        <p:spPr>
          <a:xfrm>
            <a:off x="1929384" y="367588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1929384" y="448056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météo sur ENIAC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1929384" y="49194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24 h de prévision, des semaines de calcul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922776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16" name="Text 13"/>
          <p:cNvSpPr/>
          <p:nvPr/>
        </p:nvSpPr>
        <p:spPr>
          <a:xfrm>
            <a:off x="3328416" y="367588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1952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328416" y="448056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UNIVAC prédit l'élection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3328416" y="49194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438-93, contre tous les sondages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321808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20" name="Text 17"/>
          <p:cNvSpPr/>
          <p:nvPr/>
        </p:nvSpPr>
        <p:spPr>
          <a:xfrm>
            <a:off x="4727448" y="367588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1956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4727448" y="448056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mot est inventé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727448" y="49194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Conférence de Dartmouth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720840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24" name="Text 21"/>
          <p:cNvSpPr/>
          <p:nvPr/>
        </p:nvSpPr>
        <p:spPr>
          <a:xfrm>
            <a:off x="6126480" y="367588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1958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126480" y="448056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score de crédit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6126480" y="49194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prédiction entre dans l'économie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119872" y="4215384"/>
            <a:ext cx="164592" cy="164592"/>
          </a:xfrm>
          <a:prstGeom prst="ellipse">
            <a:avLst/>
          </a:prstGeom>
          <a:solidFill>
            <a:srgbClr val="A04E00"/>
          </a:solidFill>
          <a:ln/>
        </p:spPr>
      </p:sp>
      <p:sp>
        <p:nvSpPr>
          <p:cNvPr id="28" name="Text 25"/>
          <p:cNvSpPr/>
          <p:nvPr/>
        </p:nvSpPr>
        <p:spPr>
          <a:xfrm>
            <a:off x="7525512" y="367588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A0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 · 87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7525512" y="448056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hivers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7525512" y="49194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mot devient un repoussoir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9518904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2" name="Text 29"/>
          <p:cNvSpPr/>
          <p:nvPr/>
        </p:nvSpPr>
        <p:spPr>
          <a:xfrm>
            <a:off x="8924544" y="367588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8924544" y="448056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L'apprentissage profond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8924544" y="49194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moment où ça marche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10917936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6" name="Text 33"/>
          <p:cNvSpPr/>
          <p:nvPr/>
        </p:nvSpPr>
        <p:spPr>
          <a:xfrm>
            <a:off x="10323576" y="367588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10323576" y="448056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L'accès grand public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10323576" y="49194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 date, pas une percée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7196328" y="55412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04E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orange, les deux hivers de l'IA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640080" y="605332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Quand un mot nouveau apparaît, demandez ce qu'il fait que le précédent ne faisait pas. Souvent, rien.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02 · OÙ PASSENT VOS DONNÉES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chemin de vos données.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« Est-ce que mes données servent à entraîner le modèle ? » n'a pas de réponse unique : elle dépend de l'étape.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3818" cy="35387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3423818" cy="54864"/>
          </a:xfrm>
          <a:prstGeom prst="rect">
            <a:avLst/>
          </a:prstGeom>
          <a:solidFill>
            <a:srgbClr val="A9A9AF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139696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423160"/>
            <a:ext cx="29117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Préparation, hors ligne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27249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508760" y="2724912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sources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108960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1024128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08760" y="3108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493008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/>
          <p:nvPr/>
        </p:nvSpPr>
        <p:spPr>
          <a:xfrm>
            <a:off x="1024128" y="3493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Découpage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3877056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19" name="Text 17"/>
          <p:cNvSpPr/>
          <p:nvPr/>
        </p:nvSpPr>
        <p:spPr>
          <a:xfrm>
            <a:off x="1024128" y="3877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08760" y="3877056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Vectorisation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261104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22" name="Text 20"/>
          <p:cNvSpPr/>
          <p:nvPr/>
        </p:nvSpPr>
        <p:spPr>
          <a:xfrm>
            <a:off x="1024128" y="42611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08760" y="4261104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96112" y="4919472"/>
            <a:ext cx="29117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Vos documents sont copiés et stockés chez quelqu'un.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3938" y="1965960"/>
            <a:ext cx="3423818" cy="35387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83938" y="1965960"/>
            <a:ext cx="3423818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27" name="Text 25"/>
          <p:cNvSpPr/>
          <p:nvPr/>
        </p:nvSpPr>
        <p:spPr>
          <a:xfrm>
            <a:off x="4639970" y="2139696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chaque demande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639970" y="2423160"/>
            <a:ext cx="29117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Quelques secondes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639970" y="2724912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30" name="Text 28"/>
          <p:cNvSpPr/>
          <p:nvPr/>
        </p:nvSpPr>
        <p:spPr>
          <a:xfrm>
            <a:off x="4767986" y="27249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52618" y="2724912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demande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639970" y="3108960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33" name="Text 31"/>
          <p:cNvSpPr/>
          <p:nvPr/>
        </p:nvSpPr>
        <p:spPr>
          <a:xfrm>
            <a:off x="4767986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252618" y="3108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639970" y="3493008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0071E3"/>
          </a:solidFill>
          <a:ln/>
        </p:spPr>
      </p:sp>
      <p:sp>
        <p:nvSpPr>
          <p:cNvPr id="36" name="Text 34"/>
          <p:cNvSpPr/>
          <p:nvPr/>
        </p:nvSpPr>
        <p:spPr>
          <a:xfrm>
            <a:off x="4767986" y="3493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252618" y="3493008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assemblé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639970" y="3877056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39" name="Text 37"/>
          <p:cNvSpPr/>
          <p:nvPr/>
        </p:nvSpPr>
        <p:spPr>
          <a:xfrm>
            <a:off x="4767986" y="3877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252618" y="3877056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4639970" y="4261104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42" name="Text 40"/>
          <p:cNvSpPr/>
          <p:nvPr/>
        </p:nvSpPr>
        <p:spPr>
          <a:xfrm>
            <a:off x="4767986" y="42611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52618" y="4261104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4639970" y="4919472"/>
            <a:ext cx="29117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L'étape 08 est le point de sortie réel.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127797" y="1965960"/>
            <a:ext cx="3423818" cy="35387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127797" y="1965960"/>
            <a:ext cx="3423818" cy="54864"/>
          </a:xfrm>
          <a:prstGeom prst="rect">
            <a:avLst/>
          </a:prstGeom>
          <a:solidFill>
            <a:srgbClr val="A9A9AF"/>
          </a:solidFill>
          <a:ln/>
        </p:spPr>
      </p:sp>
      <p:sp>
        <p:nvSpPr>
          <p:cNvPr id="47" name="Text 45"/>
          <p:cNvSpPr/>
          <p:nvPr/>
        </p:nvSpPr>
        <p:spPr>
          <a:xfrm>
            <a:off x="8383829" y="2139696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383829" y="2423160"/>
            <a:ext cx="29117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 qui encadre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383829" y="2724912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50" name="Text 48"/>
          <p:cNvSpPr/>
          <p:nvPr/>
        </p:nvSpPr>
        <p:spPr>
          <a:xfrm>
            <a:off x="8511845" y="27249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996477" y="2724912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&amp; actions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8383829" y="3108960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53" name="Text 51"/>
          <p:cNvSpPr/>
          <p:nvPr/>
        </p:nvSpPr>
        <p:spPr>
          <a:xfrm>
            <a:off x="8511845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996477" y="3108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humaine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383829" y="3493008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56" name="Text 54"/>
          <p:cNvSpPr/>
          <p:nvPr/>
        </p:nvSpPr>
        <p:spPr>
          <a:xfrm>
            <a:off x="8511845" y="3493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996477" y="3493008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&amp; coûts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8383829" y="4919472"/>
            <a:ext cx="29117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Sans journal, impossible d'expliquer une réponse aberrante ni d'estimer un coût.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40080" y="5806440"/>
            <a:ext cx="10911535" cy="530352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0" name="Shape 58"/>
          <p:cNvSpPr/>
          <p:nvPr/>
        </p:nvSpPr>
        <p:spPr>
          <a:xfrm>
            <a:off x="640080" y="5806440"/>
            <a:ext cx="64008" cy="53035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61" name="Text 59"/>
          <p:cNvSpPr/>
          <p:nvPr/>
        </p:nvSpPr>
        <p:spPr>
          <a:xfrm>
            <a:off x="914400" y="5806440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Vos données sortent à l'étape 08</a:t>
            </a:r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 —  et la fuite la plus fréquente vient de l'étape 06 : ce qu'on colle sans y penser.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03 · LE MÉCANISME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y a dans la boîte.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 n'est pas un cerveau. Un neurone additionne ce qui lui arrive, chaque signal multiplié par son poids.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486400" cy="3703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2128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Entrées, couches, sortie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Chaque trait porte un poids : c'est ce qui est appris.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527048" y="3246120"/>
            <a:ext cx="1060704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27048" y="32461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7048" y="3246120"/>
            <a:ext cx="1060704" cy="13716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527048" y="32461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27048" y="3931920"/>
            <a:ext cx="1060704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27048" y="39319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527048" y="3246120"/>
            <a:ext cx="1060704" cy="13716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527048" y="39319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27048" y="4617720"/>
            <a:ext cx="1060704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98648" y="3246120"/>
            <a:ext cx="1060704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98648" y="32461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98648" y="3246120"/>
            <a:ext cx="1060704" cy="13716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2898648" y="32461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98648" y="3931920"/>
            <a:ext cx="1060704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98648" y="39319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898648" y="3246120"/>
            <a:ext cx="1060704" cy="13716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2898648" y="39319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98648" y="4617720"/>
            <a:ext cx="1060704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70248" y="32461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3931920"/>
            <a:ext cx="1060704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70248" y="3931920"/>
            <a:ext cx="1060704" cy="68580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216152" y="30906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6E7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16152" y="37764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6E7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16152" y="44622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6E7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87752" y="30906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87752" y="37764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87752" y="44622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59352" y="30906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959352" y="37764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59352" y="446227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30952" y="3776472"/>
            <a:ext cx="310896" cy="310896"/>
          </a:xfrm>
          <a:prstGeom prst="ellipse">
            <a:avLst/>
          </a:prstGeom>
          <a:solidFill>
            <a:srgbClr val="E8F1FD"/>
          </a:solidFill>
          <a:ln w="25400">
            <a:solidFill>
              <a:srgbClr val="0071E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3232" y="495604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2084832" y="495604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1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3456432" y="495604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2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828032" y="495604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1440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 modèle, ce sont ces poids : des centaines de milliards de nombres, figés à la fin de l'entraînement.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46520" y="2057400"/>
            <a:ext cx="5102352" cy="3703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6720840" y="2212848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sort : une distribution, pas une réponse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720840" y="2615184"/>
            <a:ext cx="4553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« La capitale de la France est… »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6720840" y="290779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Paris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781544" y="2953512"/>
            <a:ext cx="2788920" cy="1371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49" name="Shape 47"/>
          <p:cNvSpPr/>
          <p:nvPr/>
        </p:nvSpPr>
        <p:spPr>
          <a:xfrm>
            <a:off x="7781544" y="2953512"/>
            <a:ext cx="2565806" cy="1371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0" name="Text 48"/>
          <p:cNvSpPr/>
          <p:nvPr/>
        </p:nvSpPr>
        <p:spPr>
          <a:xfrm>
            <a:off x="10652760" y="29077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92 %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720840" y="317296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781544" y="3218688"/>
            <a:ext cx="2788920" cy="1371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53" name="Shape 51"/>
          <p:cNvSpPr/>
          <p:nvPr/>
        </p:nvSpPr>
        <p:spPr>
          <a:xfrm>
            <a:off x="7781544" y="3218688"/>
            <a:ext cx="83668" cy="1371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4" name="Text 52"/>
          <p:cNvSpPr/>
          <p:nvPr/>
        </p:nvSpPr>
        <p:spPr>
          <a:xfrm>
            <a:off x="10652760" y="317296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3 %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720840" y="343814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Lyon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81544" y="3483864"/>
            <a:ext cx="2788920" cy="1371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57" name="Shape 55"/>
          <p:cNvSpPr/>
          <p:nvPr/>
        </p:nvSpPr>
        <p:spPr>
          <a:xfrm>
            <a:off x="7781544" y="3483864"/>
            <a:ext cx="27889" cy="1371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8" name="Text 56"/>
          <p:cNvSpPr/>
          <p:nvPr/>
        </p:nvSpPr>
        <p:spPr>
          <a:xfrm>
            <a:off x="10652760" y="34381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720840" y="3803904"/>
            <a:ext cx="4553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« Le chiffre d'affaires 2025 de votre société est de… »</a:t>
            </a:r>
            <a:endParaRPr lang="en-US" sz="1150" dirty="0"/>
          </a:p>
        </p:txBody>
      </p:sp>
      <p:sp>
        <p:nvSpPr>
          <p:cNvPr id="60" name="Text 58"/>
          <p:cNvSpPr/>
          <p:nvPr/>
        </p:nvSpPr>
        <p:spPr>
          <a:xfrm>
            <a:off x="6720840" y="409651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2,4 M€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781544" y="4142232"/>
            <a:ext cx="2788920" cy="1371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62" name="Shape 60"/>
          <p:cNvSpPr/>
          <p:nvPr/>
        </p:nvSpPr>
        <p:spPr>
          <a:xfrm>
            <a:off x="7781544" y="4142232"/>
            <a:ext cx="529895" cy="137160"/>
          </a:xfrm>
          <a:prstGeom prst="rect">
            <a:avLst/>
          </a:prstGeom>
          <a:solidFill>
            <a:srgbClr val="A04E00"/>
          </a:solidFill>
          <a:ln/>
        </p:spPr>
      </p:sp>
      <p:sp>
        <p:nvSpPr>
          <p:cNvPr id="63" name="Text 61"/>
          <p:cNvSpPr/>
          <p:nvPr/>
        </p:nvSpPr>
        <p:spPr>
          <a:xfrm>
            <a:off x="10652760" y="409651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19 %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6720840" y="436168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1,8 M€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7781544" y="4407408"/>
            <a:ext cx="2788920" cy="1371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66" name="Shape 64"/>
          <p:cNvSpPr/>
          <p:nvPr/>
        </p:nvSpPr>
        <p:spPr>
          <a:xfrm>
            <a:off x="7781544" y="4407408"/>
            <a:ext cx="474116" cy="137160"/>
          </a:xfrm>
          <a:prstGeom prst="rect">
            <a:avLst/>
          </a:prstGeom>
          <a:solidFill>
            <a:srgbClr val="A04E00"/>
          </a:solidFill>
          <a:ln/>
        </p:spPr>
      </p:sp>
      <p:sp>
        <p:nvSpPr>
          <p:cNvPr id="67" name="Text 65"/>
          <p:cNvSpPr/>
          <p:nvPr/>
        </p:nvSpPr>
        <p:spPr>
          <a:xfrm>
            <a:off x="10652760" y="436168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17 %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720840" y="462686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3,1 M€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7781544" y="4672584"/>
            <a:ext cx="2788920" cy="1371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70" name="Shape 68"/>
          <p:cNvSpPr/>
          <p:nvPr/>
        </p:nvSpPr>
        <p:spPr>
          <a:xfrm>
            <a:off x="7781544" y="4672584"/>
            <a:ext cx="446227" cy="137160"/>
          </a:xfrm>
          <a:prstGeom prst="rect">
            <a:avLst/>
          </a:prstGeom>
          <a:solidFill>
            <a:srgbClr val="A04E00"/>
          </a:solidFill>
          <a:ln/>
        </p:spPr>
      </p:sp>
      <p:sp>
        <p:nvSpPr>
          <p:cNvPr id="71" name="Text 69"/>
          <p:cNvSpPr/>
          <p:nvPr/>
        </p:nvSpPr>
        <p:spPr>
          <a:xfrm>
            <a:off x="10652760" y="462686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16 %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720840" y="5029200"/>
            <a:ext cx="4553712" cy="566928"/>
          </a:xfrm>
          <a:prstGeom prst="rect">
            <a:avLst/>
          </a:prstGeom>
          <a:solidFill>
            <a:srgbClr val="FBF1E4"/>
          </a:solidFill>
          <a:ln/>
        </p:spPr>
      </p:sp>
      <p:sp>
        <p:nvSpPr>
          <p:cNvPr id="73" name="Text 71"/>
          <p:cNvSpPr/>
          <p:nvPr/>
        </p:nvSpPr>
        <p:spPr>
          <a:xfrm>
            <a:off x="6858000" y="5029200"/>
            <a:ext cx="4279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n'existe pas de case « je ne sais pas ».</a:t>
            </a:r>
            <a:endParaRPr lang="en-US" sz="1250" dirty="0"/>
          </a:p>
        </p:txBody>
      </p:sp>
      <p:sp>
        <p:nvSpPr>
          <p:cNvPr id="74" name="Text 72"/>
          <p:cNvSpPr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séance : basculer d'un exemple à l'autre, puis demander au groupe où le modèle pourrait dire « je ne sais pas ».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04 · L'INFRASTRUCTURE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quoi ça tourne.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Les poids ne flottent pas dans le vide. Huit couches, de la terre jusqu'à votre écran.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006840" y="1901952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SE MESURE EN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011680" y="2148840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Shape 5"/>
          <p:cNvSpPr/>
          <p:nvPr/>
        </p:nvSpPr>
        <p:spPr>
          <a:xfrm>
            <a:off x="2011680" y="2148840"/>
            <a:ext cx="54864" cy="365760"/>
          </a:xfrm>
          <a:prstGeom prst="rect">
            <a:avLst/>
          </a:prstGeom>
          <a:solidFill>
            <a:srgbClr val="005BB8"/>
          </a:solidFill>
          <a:ln/>
        </p:spPr>
      </p:sp>
      <p:sp>
        <p:nvSpPr>
          <p:cNvPr id="8" name="Text 6"/>
          <p:cNvSpPr/>
          <p:nvPr/>
        </p:nvSpPr>
        <p:spPr>
          <a:xfrm>
            <a:off x="2212848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24912" y="2148840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application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006840" y="214884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clics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011680" y="2587752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2587752"/>
            <a:ext cx="54864" cy="365760"/>
          </a:xfrm>
          <a:prstGeom prst="rect">
            <a:avLst/>
          </a:prstGeom>
          <a:solidFill>
            <a:srgbClr val="005BB8"/>
          </a:solidFill>
          <a:ln/>
        </p:spPr>
      </p:sp>
      <p:sp>
        <p:nvSpPr>
          <p:cNvPr id="13" name="Text 11"/>
          <p:cNvSpPr/>
          <p:nvPr/>
        </p:nvSpPr>
        <p:spPr>
          <a:xfrm>
            <a:off x="2212848" y="25877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24912" y="2587752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006840" y="2587752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requêtes par minute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011680" y="3026664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7" name="Shape 15"/>
          <p:cNvSpPr/>
          <p:nvPr/>
        </p:nvSpPr>
        <p:spPr>
          <a:xfrm>
            <a:off x="2011680" y="3026664"/>
            <a:ext cx="54864" cy="365760"/>
          </a:xfrm>
          <a:prstGeom prst="rect">
            <a:avLst/>
          </a:prstGeom>
          <a:solidFill>
            <a:srgbClr val="005BB8"/>
          </a:solidFill>
          <a:ln/>
        </p:spPr>
      </p:sp>
      <p:sp>
        <p:nvSpPr>
          <p:cNvPr id="18" name="Text 16"/>
          <p:cNvSpPr/>
          <p:nvPr/>
        </p:nvSpPr>
        <p:spPr>
          <a:xfrm>
            <a:off x="2212848" y="30266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24912" y="3026664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service d'inférence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006840" y="302666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jetons par seconde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011680" y="3465576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22" name="Shape 20"/>
          <p:cNvSpPr/>
          <p:nvPr/>
        </p:nvSpPr>
        <p:spPr>
          <a:xfrm>
            <a:off x="2011680" y="3465576"/>
            <a:ext cx="54864" cy="365760"/>
          </a:xfrm>
          <a:prstGeom prst="rect">
            <a:avLst/>
          </a:prstGeom>
          <a:solidFill>
            <a:srgbClr val="005BB8"/>
          </a:solidFill>
          <a:ln/>
        </p:spPr>
      </p:sp>
      <p:sp>
        <p:nvSpPr>
          <p:cNvPr id="23" name="Text 21"/>
          <p:cNvSpPr/>
          <p:nvPr/>
        </p:nvSpPr>
        <p:spPr>
          <a:xfrm>
            <a:off x="2212848" y="346557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24912" y="3465576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L'orchestration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006840" y="3465576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machines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011680" y="3904488"/>
            <a:ext cx="6675120" cy="365760"/>
          </a:xfrm>
          <a:prstGeom prst="rect">
            <a:avLst/>
          </a:prstGeom>
          <a:solidFill>
            <a:srgbClr val="CFE3FB"/>
          </a:solidFill>
          <a:ln/>
        </p:spPr>
      </p:sp>
      <p:sp>
        <p:nvSpPr>
          <p:cNvPr id="27" name="Shape 25"/>
          <p:cNvSpPr/>
          <p:nvPr/>
        </p:nvSpPr>
        <p:spPr>
          <a:xfrm>
            <a:off x="2011680" y="3904488"/>
            <a:ext cx="54864" cy="365760"/>
          </a:xfrm>
          <a:prstGeom prst="rect">
            <a:avLst/>
          </a:prstGeom>
          <a:solidFill>
            <a:srgbClr val="005BB8"/>
          </a:solidFill>
          <a:ln/>
        </p:spPr>
      </p:sp>
      <p:sp>
        <p:nvSpPr>
          <p:cNvPr id="28" name="Text 26"/>
          <p:cNvSpPr/>
          <p:nvPr/>
        </p:nvSpPr>
        <p:spPr>
          <a:xfrm>
            <a:off x="2212848" y="3904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24912" y="3904488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réseau interne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006840" y="3904488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gigaoctets par seconde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011680" y="4343400"/>
            <a:ext cx="6675120" cy="365760"/>
          </a:xfrm>
          <a:prstGeom prst="rect">
            <a:avLst/>
          </a:prstGeom>
          <a:solidFill>
            <a:srgbClr val="CFE3FB"/>
          </a:solidFill>
          <a:ln/>
        </p:spPr>
      </p:sp>
      <p:sp>
        <p:nvSpPr>
          <p:cNvPr id="32" name="Shape 30"/>
          <p:cNvSpPr/>
          <p:nvPr/>
        </p:nvSpPr>
        <p:spPr>
          <a:xfrm>
            <a:off x="2011680" y="4343400"/>
            <a:ext cx="54864" cy="365760"/>
          </a:xfrm>
          <a:prstGeom prst="rect">
            <a:avLst/>
          </a:prstGeom>
          <a:solidFill>
            <a:srgbClr val="005BB8"/>
          </a:solidFill>
          <a:ln/>
        </p:spPr>
      </p:sp>
      <p:sp>
        <p:nvSpPr>
          <p:cNvPr id="33" name="Text 31"/>
          <p:cNvSpPr/>
          <p:nvPr/>
        </p:nvSpPr>
        <p:spPr>
          <a:xfrm>
            <a:off x="2212848" y="4343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724912" y="4343400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calcul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006840" y="434340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processeurs graphiques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011680" y="4782312"/>
            <a:ext cx="6675120" cy="365760"/>
          </a:xfrm>
          <a:prstGeom prst="rect">
            <a:avLst/>
          </a:prstGeom>
          <a:solidFill>
            <a:srgbClr val="E4E7ED"/>
          </a:solidFill>
          <a:ln/>
        </p:spPr>
      </p:sp>
      <p:sp>
        <p:nvSpPr>
          <p:cNvPr id="37" name="Shape 35"/>
          <p:cNvSpPr/>
          <p:nvPr/>
        </p:nvSpPr>
        <p:spPr>
          <a:xfrm>
            <a:off x="2011680" y="4782312"/>
            <a:ext cx="54864" cy="365760"/>
          </a:xfrm>
          <a:prstGeom prst="rect">
            <a:avLst/>
          </a:prstGeom>
          <a:solidFill>
            <a:srgbClr val="4A5060"/>
          </a:solidFill>
          <a:ln/>
        </p:spPr>
      </p:sp>
      <p:sp>
        <p:nvSpPr>
          <p:cNvPr id="38" name="Text 36"/>
          <p:cNvSpPr/>
          <p:nvPr/>
        </p:nvSpPr>
        <p:spPr>
          <a:xfrm>
            <a:off x="2212848" y="47823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5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724912" y="4782312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refroidissement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06840" y="4782312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litres d'eau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2011680" y="5221224"/>
            <a:ext cx="6675120" cy="365760"/>
          </a:xfrm>
          <a:prstGeom prst="rect">
            <a:avLst/>
          </a:prstGeom>
          <a:solidFill>
            <a:srgbClr val="E4E7ED"/>
          </a:solidFill>
          <a:ln/>
        </p:spPr>
      </p:sp>
      <p:sp>
        <p:nvSpPr>
          <p:cNvPr id="42" name="Shape 40"/>
          <p:cNvSpPr/>
          <p:nvPr/>
        </p:nvSpPr>
        <p:spPr>
          <a:xfrm>
            <a:off x="2011680" y="5221224"/>
            <a:ext cx="54864" cy="365760"/>
          </a:xfrm>
          <a:prstGeom prst="rect">
            <a:avLst/>
          </a:prstGeom>
          <a:solidFill>
            <a:srgbClr val="4A5060"/>
          </a:solidFill>
          <a:ln/>
        </p:spPr>
      </p:sp>
      <p:sp>
        <p:nvSpPr>
          <p:cNvPr id="43" name="Text 41"/>
          <p:cNvSpPr/>
          <p:nvPr/>
        </p:nvSpPr>
        <p:spPr>
          <a:xfrm>
            <a:off x="2212848" y="522122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5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724912" y="5221224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site et l'électricité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9006840" y="522122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mégawatts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1847088" y="2148840"/>
            <a:ext cx="0" cy="1682496"/>
          </a:xfrm>
          <a:prstGeom prst="line">
            <a:avLst/>
          </a:prstGeom>
          <a:noFill/>
          <a:ln w="25400">
            <a:solidFill>
              <a:srgbClr val="A9A9A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0040" y="28529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LOGICIEL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47088" y="3904488"/>
            <a:ext cx="0" cy="804672"/>
          </a:xfrm>
          <a:prstGeom prst="line">
            <a:avLst/>
          </a:prstGeom>
          <a:noFill/>
          <a:ln w="25400">
            <a:solidFill>
              <a:srgbClr val="A9A9A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0040" y="416966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MATÉRIEL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47088" y="4782312"/>
            <a:ext cx="0" cy="804672"/>
          </a:xfrm>
          <a:prstGeom prst="line">
            <a:avLst/>
          </a:prstGeom>
          <a:noFill/>
          <a:ln w="25400">
            <a:solidFill>
              <a:srgbClr val="A9A9A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0040" y="50474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" y="5897880"/>
            <a:ext cx="64008" cy="45720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4" name="Text 52"/>
          <p:cNvSpPr/>
          <p:nvPr/>
        </p:nvSpPr>
        <p:spPr>
          <a:xfrm>
            <a:off x="914400" y="58978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 n'installe pas un centre de données où l'on veut : on l'installe où il y a du courant disponible.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05 · L'EMPREINTE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coûte à la planète.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Deux échelles à ne jamais confondre : ce que coûte votre requête, et ce que coûte l'ensemble.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221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286000"/>
            <a:ext cx="2522144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0,24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77824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 par requête texte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77824" y="3493008"/>
            <a:ext cx="2046656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 secondes de cerveau humain. Il en faudrait 2 000 pour égaler une journée de réflexion.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36544" y="2286000"/>
            <a:ext cx="25221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36544" y="2286000"/>
            <a:ext cx="2522144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3" name="Text 11"/>
          <p:cNvSpPr/>
          <p:nvPr/>
        </p:nvSpPr>
        <p:spPr>
          <a:xfrm>
            <a:off x="3674288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0,34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674288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Wh, autre estimation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74288" y="3493008"/>
            <a:ext cx="2046656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74288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 minute de cerveau. Recharger un téléphone consomme quarante fois plus.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33008" y="2286000"/>
            <a:ext cx="25221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33008" y="2286000"/>
            <a:ext cx="2522144" cy="54864"/>
          </a:xfrm>
          <a:prstGeom prst="rect">
            <a:avLst/>
          </a:prstGeom>
          <a:solidFill>
            <a:srgbClr val="B85C00"/>
          </a:solidFill>
          <a:ln/>
        </p:spPr>
      </p:sp>
      <p:sp>
        <p:nvSpPr>
          <p:cNvPr id="19" name="Text 17"/>
          <p:cNvSpPr/>
          <p:nvPr/>
        </p:nvSpPr>
        <p:spPr>
          <a:xfrm>
            <a:off x="6470752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72 816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470752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tonnes de CO₂e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70752" y="3493008"/>
            <a:ext cx="2046656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0752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L'entraînement d'un seul modèle : autant que 8 900 Français pendant un an.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29471" y="2286000"/>
            <a:ext cx="25221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029471" y="2286000"/>
            <a:ext cx="2522144" cy="54864"/>
          </a:xfrm>
          <a:prstGeom prst="rect">
            <a:avLst/>
          </a:prstGeom>
          <a:solidFill>
            <a:srgbClr val="B85C00"/>
          </a:solidFill>
          <a:ln/>
        </p:spPr>
      </p:sp>
      <p:sp>
        <p:nvSpPr>
          <p:cNvPr id="25" name="Text 23"/>
          <p:cNvSpPr/>
          <p:nvPr/>
        </p:nvSpPr>
        <p:spPr>
          <a:xfrm>
            <a:off x="9267215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945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9267215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TWh en 2030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267215" y="3493008"/>
            <a:ext cx="2046656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67215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Plus de deux fois la consommation électrique de la France, qui était de 451 TWh en 2025.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029200"/>
            <a:ext cx="10911535" cy="58521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30" name="Shape 28"/>
          <p:cNvSpPr/>
          <p:nvPr/>
        </p:nvSpPr>
        <p:spPr>
          <a:xfrm>
            <a:off x="640080" y="5029200"/>
            <a:ext cx="64008" cy="585216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5029200"/>
            <a:ext cx="103628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levier n'est pas d'utiliser moins l'IA, </a:t>
            </a:r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c'est de ne pas envoyer trente pages à chaque question.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Sources : Stanford AI Index 2026 · Google, rapport technique Gemini 2025 · AIE 2026 · RTE, bilan électrique 2025 · Insee, empreinte carbone 2024.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SUITE DU PROGRAMME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après la genèse.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Deux parcours, dans l'ordre. Le premier s'adresse à tout le monde, le second ne s'ouvre qu'après le module 07.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39496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5394960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94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Découverte · 12 modules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46888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semaines · 15 à 20 min par module · aucun prérequis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78892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298448" y="278892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Chronomètre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mesurer trois tâches avant de commencer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14400" y="302666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98448" y="302666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 que Claude fait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et ce qu'il ne fait pas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14400" y="3264408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298448" y="326440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CRAFT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contexte, rôle, action, format, tonalité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4400" y="350215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298448" y="350215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Confidentialité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 qu'on ne colle jamais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14400" y="3739896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98448" y="373989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Rédiger et reformuler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changer le ton sans changer le fond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14400" y="397764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298448" y="397764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Lire un document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demander un angle, pas un résumé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14400" y="421538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98448" y="421538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Photo et capture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sortir du clavier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4400" y="4453128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98448" y="445312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Vérifier avant d'envoyer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chiffres, noms, dates, citations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14400" y="469087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98448" y="469087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Tableurs et données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 l'export brut au tableau lisible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14400" y="4928616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98448" y="492861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Projects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arrêter de réexpliquer son contexte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14400" y="516636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98448" y="516636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Tâche répétitive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faire un modèle réutilisable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14400" y="540410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98448" y="540410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Démo de 5 minutes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avant, après, temps gagné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309360" y="2011680"/>
            <a:ext cx="310896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09360" y="2011680"/>
            <a:ext cx="3108960" cy="54864"/>
          </a:xfrm>
          <a:prstGeom prst="rect">
            <a:avLst/>
          </a:prstGeom>
          <a:solidFill>
            <a:srgbClr val="B85C00"/>
          </a:solidFill>
          <a:ln/>
        </p:spPr>
      </p:sp>
      <p:sp>
        <p:nvSpPr>
          <p:cNvPr id="35" name="Text 33"/>
          <p:cNvSpPr/>
          <p:nvPr/>
        </p:nvSpPr>
        <p:spPr>
          <a:xfrm>
            <a:off x="6583680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Avancé · 7 modules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583680" y="246888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45 à 60 min · après le module 07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83680" y="278892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49440" y="278892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slash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949440" y="2980944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trois environnements, deux natures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583680" y="3191256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949440" y="319125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qu'un agent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949440" y="338328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qui décide de l'étape suivante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583680" y="3593592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949440" y="359359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des outils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6949440" y="378561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lire, interroger, envoyer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583680" y="3995928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949440" y="399592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Projects à Skills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949440" y="41879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capitaliser ce qui marche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583680" y="4398264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949440" y="4398264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et connecteurs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6949440" y="459028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brancher les vraies données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583680" y="480060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949440" y="480060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 de bout en bout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6949440" y="4992624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sur une tâche volontairement étroite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583680" y="5202936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49440" y="520293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Tester, chiffrer, encadrer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6949440" y="539496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coût, journal, procédure d'arrêt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9692640" y="2011680"/>
            <a:ext cx="1856232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9692640" y="2011680"/>
            <a:ext cx="1856232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60" name="Text 58"/>
          <p:cNvSpPr/>
          <p:nvPr/>
        </p:nvSpPr>
        <p:spPr>
          <a:xfrm>
            <a:off x="9829800" y="2194560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complet</a:t>
            </a:r>
            <a:endParaRPr lang="en-US" sz="1300" dirty="0"/>
          </a:p>
        </p:txBody>
      </p:sp>
      <p:pic>
        <p:nvPicPr>
          <p:cNvPr id="61" name="Image 0" descr="QR code vers arx-consulting.com/AITrai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0112" y="2743200"/>
            <a:ext cx="1161288" cy="1161288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9802368" y="3995928"/>
            <a:ext cx="1636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71E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arx-consulting.com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071E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/AITraining</a:t>
            </a:r>
            <a:endParaRPr lang="en-US" sz="1050" dirty="0"/>
          </a:p>
        </p:txBody>
      </p:sp>
      <p:sp>
        <p:nvSpPr>
          <p:cNvPr id="63" name="Text 60"/>
          <p:cNvSpPr/>
          <p:nvPr/>
        </p:nvSpPr>
        <p:spPr>
          <a:xfrm>
            <a:off x="9829800" y="4572000"/>
            <a:ext cx="1581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Frise, chemin des données, limites, mythes et sources — tout est consultable et cliquable.</a:t>
            </a:r>
            <a:endParaRPr lang="en-US" sz="1050" dirty="0"/>
          </a:p>
        </p:txBody>
      </p:sp>
      <p:pic>
        <p:nvPicPr>
          <p:cNvPr id="64" name="Image 1" descr="Arx Consult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989320"/>
            <a:ext cx="320040" cy="347472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1078992" y="601675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Arx Consulting · programme de formation interne</a:t>
            </a:r>
            <a:endParaRPr lang="en-US" sz="1100" dirty="0"/>
          </a:p>
        </p:txBody>
      </p:sp>
      <p:sp>
        <p:nvSpPr>
          <p:cNvPr id="66" name="Text 62"/>
          <p:cNvSpPr/>
          <p:nvPr/>
        </p:nvSpPr>
        <p:spPr>
          <a:xfrm>
            <a:off x="5943600" y="6016752"/>
            <a:ext cx="5605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 obligation européenne de maîtrise de l'IA s'applique depuis février 2025. Ce programme en constitue la trace.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genèse de l'IA</dc:title>
  <dc:subject>Séance d'ouverture du programme AI Training</dc:subject>
  <dc:creator>Arx Consulting</dc:creator>
  <cp:lastModifiedBy>Arx Consulting</cp:lastModifiedBy>
  <cp:revision>1</cp:revision>
  <dcterms:created xsi:type="dcterms:W3CDTF">2026-08-10T11:07:29Z</dcterms:created>
  <dcterms:modified xsi:type="dcterms:W3CDTF">2026-08-10T11:07:29Z</dcterms:modified>
</cp:coreProperties>
</file>