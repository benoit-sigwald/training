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 CONSULTING · AI TRAINING · SÉANCE D'OUVERTURE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 ans,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douzaine de noms.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2395728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Tout part d'un besoin que personne ne savait satisfaire : prévoir le temps. C'est lui qui a justifié de construire la machine — et le domaine a changé d'étiquette à chaque déception depuis.</a:t>
            </a:r>
            <a:endParaRPr lang="en-US" sz="1500" dirty="0"/>
          </a:p>
        </p:txBody>
      </p:sp>
      <p:pic>
        <p:nvPicPr>
          <p:cNvPr id="5" name="Image 0" descr="Arx Consul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4624" y="777240"/>
            <a:ext cx="1984248" cy="21762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4297680"/>
            <a:ext cx="10911535" cy="0"/>
          </a:xfrm>
          <a:prstGeom prst="line">
            <a:avLst/>
          </a:prstGeom>
          <a:noFill/>
          <a:ln w="25400">
            <a:solidFill>
              <a:srgbClr val="A9A9A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24712" y="4215384"/>
            <a:ext cx="164592" cy="16459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8" name="Text 5"/>
          <p:cNvSpPr/>
          <p:nvPr/>
        </p:nvSpPr>
        <p:spPr>
          <a:xfrm>
            <a:off x="530352" y="367588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1922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30352" y="4480560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Prévoir le temps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30352" y="4919472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 besoin qui fera la machine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23744" y="4215384"/>
            <a:ext cx="164592" cy="16459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2" name="Text 9"/>
          <p:cNvSpPr/>
          <p:nvPr/>
        </p:nvSpPr>
        <p:spPr>
          <a:xfrm>
            <a:off x="1929384" y="367588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929384" y="4480560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météo sur ENIAC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929384" y="4919472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24 h de prévision, des semaines de calcul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922776" y="4215384"/>
            <a:ext cx="164592" cy="16459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6" name="Text 13"/>
          <p:cNvSpPr/>
          <p:nvPr/>
        </p:nvSpPr>
        <p:spPr>
          <a:xfrm>
            <a:off x="3328416" y="367588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1952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3328416" y="4480560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UNIVAC prédit l'élection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3328416" y="4919472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438-93, contre tous les sondages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321808" y="4215384"/>
            <a:ext cx="164592" cy="16459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20" name="Text 17"/>
          <p:cNvSpPr/>
          <p:nvPr/>
        </p:nvSpPr>
        <p:spPr>
          <a:xfrm>
            <a:off x="4727448" y="367588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1956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4727448" y="4480560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mot est inventé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727448" y="4919472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Conférence de Dartmouth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720840" y="4215384"/>
            <a:ext cx="164592" cy="16459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24" name="Text 21"/>
          <p:cNvSpPr/>
          <p:nvPr/>
        </p:nvSpPr>
        <p:spPr>
          <a:xfrm>
            <a:off x="6126480" y="367588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1958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6126480" y="4480560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score de crédit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126480" y="4919472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prédiction entre dans l'économie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119872" y="4215384"/>
            <a:ext cx="164592" cy="164592"/>
          </a:xfrm>
          <a:prstGeom prst="ellipse">
            <a:avLst/>
          </a:prstGeom>
          <a:solidFill>
            <a:srgbClr val="A04E00"/>
          </a:solidFill>
          <a:ln/>
        </p:spPr>
      </p:sp>
      <p:sp>
        <p:nvSpPr>
          <p:cNvPr id="28" name="Text 25"/>
          <p:cNvSpPr/>
          <p:nvPr/>
        </p:nvSpPr>
        <p:spPr>
          <a:xfrm>
            <a:off x="7525512" y="367588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A0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1974 · 87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7525512" y="4480560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hivers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7525512" y="4919472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 mot devient un repoussoir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9518904" y="4215384"/>
            <a:ext cx="164592" cy="16459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32" name="Text 29"/>
          <p:cNvSpPr/>
          <p:nvPr/>
        </p:nvSpPr>
        <p:spPr>
          <a:xfrm>
            <a:off x="8924544" y="367588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8924544" y="4480560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L'apprentissage profond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8924544" y="4919472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 moment où ça marche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10917936" y="4215384"/>
            <a:ext cx="164592" cy="16459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36" name="Text 33"/>
          <p:cNvSpPr/>
          <p:nvPr/>
        </p:nvSpPr>
        <p:spPr>
          <a:xfrm>
            <a:off x="10323576" y="367588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450" dirty="0"/>
          </a:p>
        </p:txBody>
      </p:sp>
      <p:sp>
        <p:nvSpPr>
          <p:cNvPr id="37" name="Text 34"/>
          <p:cNvSpPr/>
          <p:nvPr/>
        </p:nvSpPr>
        <p:spPr>
          <a:xfrm>
            <a:off x="10323576" y="4480560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L'accès grand public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10323576" y="4919472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Une date, pas une percée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196328" y="55412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A04E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 orange, les deux hivers de l'IA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640080" y="60533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Quand un mot nouveau apparaît, demandez ce qu'il fait que le précédent ne faisait pas. Souvent, rien.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02 · OÙ PASSENT VOS DONNÉES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chemin de vos données.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« Est-ce que mes données servent à entraîner le modèle ? » n'a pas de réponse unique : elle dépend de l'étape.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23818" cy="35387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65960"/>
            <a:ext cx="3423818" cy="54864"/>
          </a:xfrm>
          <a:prstGeom prst="rect">
            <a:avLst/>
          </a:prstGeom>
          <a:solidFill>
            <a:srgbClr val="A9A9AF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139696"/>
            <a:ext cx="29117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423160"/>
            <a:ext cx="29117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Préparation, hors ligne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96112" y="2724912"/>
            <a:ext cx="2911754" cy="36576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27249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08760" y="2724912"/>
            <a:ext cx="2006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sources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96112" y="3108960"/>
            <a:ext cx="2911754" cy="36576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3108960"/>
            <a:ext cx="2006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6112" y="3493008"/>
            <a:ext cx="2911754" cy="36576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1024128" y="34930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2006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Découpage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6112" y="3877056"/>
            <a:ext cx="2911754" cy="36576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/>
        </p:spPr>
      </p:sp>
      <p:sp>
        <p:nvSpPr>
          <p:cNvPr id="19" name="Text 17"/>
          <p:cNvSpPr/>
          <p:nvPr/>
        </p:nvSpPr>
        <p:spPr>
          <a:xfrm>
            <a:off x="1024128" y="38770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08760" y="3877056"/>
            <a:ext cx="2006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314090" y="3959352"/>
            <a:ext cx="201168" cy="201168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22" name="Text 20"/>
          <p:cNvSpPr/>
          <p:nvPr/>
        </p:nvSpPr>
        <p:spPr>
          <a:xfrm>
            <a:off x="3314090" y="39593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896112" y="4261104"/>
            <a:ext cx="2911754" cy="36576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/>
        </p:spPr>
      </p:sp>
      <p:sp>
        <p:nvSpPr>
          <p:cNvPr id="24" name="Text 22"/>
          <p:cNvSpPr/>
          <p:nvPr/>
        </p:nvSpPr>
        <p:spPr>
          <a:xfrm>
            <a:off x="1024128" y="42611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08760" y="4261104"/>
            <a:ext cx="2006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96112" y="4919472"/>
            <a:ext cx="29117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Vos documents sont copiés et stockés chez quelqu'un.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83938" y="1965960"/>
            <a:ext cx="3423818" cy="35387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83938" y="1965960"/>
            <a:ext cx="3423818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29" name="Text 27"/>
          <p:cNvSpPr/>
          <p:nvPr/>
        </p:nvSpPr>
        <p:spPr>
          <a:xfrm>
            <a:off x="4639970" y="2139696"/>
            <a:ext cx="29117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demande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639970" y="2423160"/>
            <a:ext cx="29117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Quelques secondes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639970" y="2724912"/>
            <a:ext cx="2911754" cy="36576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/>
        </p:spPr>
      </p:sp>
      <p:sp>
        <p:nvSpPr>
          <p:cNvPr id="32" name="Text 30"/>
          <p:cNvSpPr/>
          <p:nvPr/>
        </p:nvSpPr>
        <p:spPr>
          <a:xfrm>
            <a:off x="4767986" y="27249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2618" y="2724912"/>
            <a:ext cx="2006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demande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639970" y="3108960"/>
            <a:ext cx="2911754" cy="36576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/>
        </p:spPr>
      </p:sp>
      <p:sp>
        <p:nvSpPr>
          <p:cNvPr id="35" name="Text 33"/>
          <p:cNvSpPr/>
          <p:nvPr/>
        </p:nvSpPr>
        <p:spPr>
          <a:xfrm>
            <a:off x="4767986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52618" y="3108960"/>
            <a:ext cx="2006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057949" y="3191256"/>
            <a:ext cx="201168" cy="201168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38" name="Text 36"/>
          <p:cNvSpPr/>
          <p:nvPr/>
        </p:nvSpPr>
        <p:spPr>
          <a:xfrm>
            <a:off x="7057949" y="31912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4639970" y="3493008"/>
            <a:ext cx="2911754" cy="365760"/>
          </a:xfrm>
          <a:prstGeom prst="roundRect">
            <a:avLst>
              <a:gd name="adj" fmla="val 20000"/>
            </a:avLst>
          </a:prstGeom>
          <a:solidFill>
            <a:srgbClr val="0071E3"/>
          </a:solidFill>
          <a:ln/>
        </p:spPr>
      </p:sp>
      <p:sp>
        <p:nvSpPr>
          <p:cNvPr id="40" name="Text 38"/>
          <p:cNvSpPr/>
          <p:nvPr/>
        </p:nvSpPr>
        <p:spPr>
          <a:xfrm>
            <a:off x="4767986" y="34930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52618" y="3493008"/>
            <a:ext cx="2006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assemblé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4639970" y="3877056"/>
            <a:ext cx="2911754" cy="36576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/>
        </p:spPr>
      </p:sp>
      <p:sp>
        <p:nvSpPr>
          <p:cNvPr id="43" name="Text 41"/>
          <p:cNvSpPr/>
          <p:nvPr/>
        </p:nvSpPr>
        <p:spPr>
          <a:xfrm>
            <a:off x="4767986" y="38770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52618" y="3877056"/>
            <a:ext cx="2006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4639970" y="4261104"/>
            <a:ext cx="2911754" cy="36576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/>
        </p:spPr>
      </p:sp>
      <p:sp>
        <p:nvSpPr>
          <p:cNvPr id="46" name="Text 44"/>
          <p:cNvSpPr/>
          <p:nvPr/>
        </p:nvSpPr>
        <p:spPr>
          <a:xfrm>
            <a:off x="4767986" y="42611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52618" y="4261104"/>
            <a:ext cx="2006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7057949" y="4343400"/>
            <a:ext cx="201168" cy="201168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49" name="Text 47"/>
          <p:cNvSpPr/>
          <p:nvPr/>
        </p:nvSpPr>
        <p:spPr>
          <a:xfrm>
            <a:off x="7057949" y="43434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4639970" y="4919472"/>
            <a:ext cx="29117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L'étape 08 est le point de sortie réel.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127797" y="1965960"/>
            <a:ext cx="3423818" cy="35387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38100" dir="810000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127797" y="1965960"/>
            <a:ext cx="3423818" cy="54864"/>
          </a:xfrm>
          <a:prstGeom prst="rect">
            <a:avLst/>
          </a:prstGeom>
          <a:solidFill>
            <a:srgbClr val="A9A9AF"/>
          </a:solidFill>
          <a:ln/>
        </p:spPr>
      </p:sp>
      <p:sp>
        <p:nvSpPr>
          <p:cNvPr id="53" name="Text 51"/>
          <p:cNvSpPr/>
          <p:nvPr/>
        </p:nvSpPr>
        <p:spPr>
          <a:xfrm>
            <a:off x="8383829" y="2139696"/>
            <a:ext cx="29117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Autour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383829" y="2423160"/>
            <a:ext cx="29117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 qui encadre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8383829" y="2724912"/>
            <a:ext cx="2911754" cy="36576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/>
        </p:spPr>
      </p:sp>
      <p:sp>
        <p:nvSpPr>
          <p:cNvPr id="56" name="Text 54"/>
          <p:cNvSpPr/>
          <p:nvPr/>
        </p:nvSpPr>
        <p:spPr>
          <a:xfrm>
            <a:off x="8511845" y="27249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996477" y="2724912"/>
            <a:ext cx="2006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&amp; actions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8383829" y="3108960"/>
            <a:ext cx="2911754" cy="36576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/>
        </p:spPr>
      </p:sp>
      <p:sp>
        <p:nvSpPr>
          <p:cNvPr id="59" name="Text 57"/>
          <p:cNvSpPr/>
          <p:nvPr/>
        </p:nvSpPr>
        <p:spPr>
          <a:xfrm>
            <a:off x="8511845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996477" y="3108960"/>
            <a:ext cx="2006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humaine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8383829" y="3493008"/>
            <a:ext cx="2911754" cy="36576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/>
        </p:spPr>
      </p:sp>
      <p:sp>
        <p:nvSpPr>
          <p:cNvPr id="62" name="Text 60"/>
          <p:cNvSpPr/>
          <p:nvPr/>
        </p:nvSpPr>
        <p:spPr>
          <a:xfrm>
            <a:off x="8511845" y="34930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8996477" y="3493008"/>
            <a:ext cx="2006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&amp; coûts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8383829" y="4919472"/>
            <a:ext cx="29117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Sans journal, impossible d'expliquer une réponse aberrante ni d'estimer un coût.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40080" y="5577840"/>
            <a:ext cx="182880" cy="182880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66" name="Text 64"/>
          <p:cNvSpPr/>
          <p:nvPr/>
        </p:nvSpPr>
        <p:spPr>
          <a:xfrm>
            <a:off x="640080" y="55778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896112" y="555955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neural network — les trois seules étapes qui en sont un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640080" y="5806440"/>
            <a:ext cx="10911535" cy="530352"/>
          </a:xfrm>
          <a:prstGeom prst="rect">
            <a:avLst/>
          </a:prstGeom>
          <a:solidFill>
            <a:srgbClr val="E8F1FD"/>
          </a:solidFill>
          <a:ln/>
        </p:spPr>
      </p:sp>
      <p:sp>
        <p:nvSpPr>
          <p:cNvPr id="69" name="Shape 67"/>
          <p:cNvSpPr/>
          <p:nvPr/>
        </p:nvSpPr>
        <p:spPr>
          <a:xfrm>
            <a:off x="640080" y="5806440"/>
            <a:ext cx="64008" cy="530352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70" name="Text 68"/>
          <p:cNvSpPr/>
          <p:nvPr/>
        </p:nvSpPr>
        <p:spPr>
          <a:xfrm>
            <a:off x="914400" y="5806440"/>
            <a:ext cx="103628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Vos données sortent à l'étape 08</a:t>
            </a:r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—  et la fuite la plus fréquente vient de l'étape 06 : ce qu'on colle sans y penser.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03 · LE MÉCANISME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y a dans la boîte.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 n'est pas un cerveau. Un neurone additionne ce qui lui arrive, chaque signal multiplié par son poids.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486400" cy="3703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128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Entrées, poids, couches, sortie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4871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Chaque trait porte un poids : c'est ce qui est appris.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212848" y="2852928"/>
            <a:ext cx="2157984" cy="1975104"/>
          </a:xfrm>
          <a:prstGeom prst="roundRect">
            <a:avLst>
              <a:gd name="adj" fmla="val 5556"/>
            </a:avLst>
          </a:prstGeom>
          <a:solidFill>
            <a:srgbClr val="F0F6FE"/>
          </a:solidFill>
          <a:ln w="12700">
            <a:solidFill>
              <a:srgbClr val="F0F6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12848" y="2889504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60" kern="0" dirty="0">
                <a:solidFill>
                  <a:srgbClr val="00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COUCHES CACHÉES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 flipV="1">
            <a:off x="1554480" y="3218688"/>
            <a:ext cx="1097280" cy="182880"/>
          </a:xfrm>
          <a:prstGeom prst="line">
            <a:avLst/>
          </a:prstGeom>
          <a:noFill/>
          <a:ln w="14796">
            <a:solidFill>
              <a:srgbClr val="0071E3">
                <a:alpha val="43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4480" y="3401568"/>
            <a:ext cx="1097280" cy="246888"/>
          </a:xfrm>
          <a:prstGeom prst="line">
            <a:avLst/>
          </a:prstGeom>
          <a:noFill/>
          <a:ln w="30480">
            <a:solidFill>
              <a:srgbClr val="0071E3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54480" y="3401568"/>
            <a:ext cx="1097280" cy="676656"/>
          </a:xfrm>
          <a:prstGeom prst="line">
            <a:avLst/>
          </a:prstGeom>
          <a:noFill/>
          <a:ln w="19622">
            <a:solidFill>
              <a:srgbClr val="0071E3">
                <a:alpha val="51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54480" y="3401568"/>
            <a:ext cx="1097280" cy="1106424"/>
          </a:xfrm>
          <a:prstGeom prst="line">
            <a:avLst/>
          </a:prstGeom>
          <a:noFill/>
          <a:ln w="25654">
            <a:solidFill>
              <a:srgbClr val="0071E3">
                <a:alpha val="6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554480" y="3218688"/>
            <a:ext cx="1097280" cy="731520"/>
          </a:xfrm>
          <a:prstGeom prst="line">
            <a:avLst/>
          </a:prstGeom>
          <a:noFill/>
          <a:ln w="13589">
            <a:solidFill>
              <a:srgbClr val="0071E3">
                <a:alpha val="41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554480" y="3648456"/>
            <a:ext cx="1097280" cy="301752"/>
          </a:xfrm>
          <a:prstGeom prst="line">
            <a:avLst/>
          </a:prstGeom>
          <a:noFill/>
          <a:ln w="30480">
            <a:solidFill>
              <a:srgbClr val="0071E3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3950208"/>
            <a:ext cx="1097280" cy="128016"/>
          </a:xfrm>
          <a:prstGeom prst="line">
            <a:avLst/>
          </a:prstGeom>
          <a:noFill/>
          <a:ln w="17209">
            <a:solidFill>
              <a:srgbClr val="0071E3">
                <a:alpha val="4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54480" y="3950208"/>
            <a:ext cx="1097280" cy="557784"/>
          </a:xfrm>
          <a:prstGeom prst="line">
            <a:avLst/>
          </a:prstGeom>
          <a:noFill/>
          <a:ln w="23241">
            <a:solidFill>
              <a:srgbClr val="0071E3">
                <a:alpha val="5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1554480" y="3218688"/>
            <a:ext cx="1097280" cy="1280160"/>
          </a:xfrm>
          <a:prstGeom prst="line">
            <a:avLst/>
          </a:prstGeom>
          <a:noFill/>
          <a:ln w="28067">
            <a:solidFill>
              <a:srgbClr val="0071E3">
                <a:alpha val="6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1554480" y="3648456"/>
            <a:ext cx="1097280" cy="850392"/>
          </a:xfrm>
          <a:prstGeom prst="line">
            <a:avLst/>
          </a:prstGeom>
          <a:noFill/>
          <a:ln w="16002">
            <a:solidFill>
              <a:srgbClr val="0071E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554480" y="4078224"/>
            <a:ext cx="1097280" cy="420624"/>
          </a:xfrm>
          <a:prstGeom prst="line">
            <a:avLst/>
          </a:prstGeom>
          <a:noFill/>
          <a:ln w="20828">
            <a:solidFill>
              <a:srgbClr val="0071E3">
                <a:alpha val="53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54480" y="4498848"/>
            <a:ext cx="1097280" cy="9144"/>
          </a:xfrm>
          <a:prstGeom prst="line">
            <a:avLst/>
          </a:prstGeom>
          <a:noFill/>
          <a:ln w="30480">
            <a:solidFill>
              <a:srgbClr val="0071E3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6080" y="3218688"/>
            <a:ext cx="731520" cy="0"/>
          </a:xfrm>
          <a:prstGeom prst="line">
            <a:avLst/>
          </a:prstGeom>
          <a:noFill/>
          <a:ln w="18415">
            <a:solidFill>
              <a:srgbClr val="0071E3">
                <a:alpha val="49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0" y="3218688"/>
            <a:ext cx="731520" cy="429768"/>
          </a:xfrm>
          <a:prstGeom prst="line">
            <a:avLst/>
          </a:prstGeom>
          <a:noFill/>
          <a:ln w="26861">
            <a:solidFill>
              <a:srgbClr val="0071E3">
                <a:alpha val="6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26080" y="3218688"/>
            <a:ext cx="731520" cy="859536"/>
          </a:xfrm>
          <a:prstGeom prst="line">
            <a:avLst/>
          </a:prstGeom>
          <a:noFill/>
          <a:ln w="14796">
            <a:solidFill>
              <a:srgbClr val="0071E3">
                <a:alpha val="43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0" y="3218688"/>
            <a:ext cx="731520" cy="1289304"/>
          </a:xfrm>
          <a:prstGeom prst="line">
            <a:avLst/>
          </a:prstGeom>
          <a:noFill/>
          <a:ln w="30480">
            <a:solidFill>
              <a:srgbClr val="0071E3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2926080" y="3218688"/>
            <a:ext cx="731520" cy="429768"/>
          </a:xfrm>
          <a:prstGeom prst="line">
            <a:avLst/>
          </a:prstGeom>
          <a:noFill/>
          <a:ln w="23241">
            <a:solidFill>
              <a:srgbClr val="0071E3">
                <a:alpha val="5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26080" y="3648456"/>
            <a:ext cx="731520" cy="0"/>
          </a:xfrm>
          <a:prstGeom prst="line">
            <a:avLst/>
          </a:prstGeom>
          <a:noFill/>
          <a:ln w="17209">
            <a:solidFill>
              <a:srgbClr val="0071E3">
                <a:alpha val="4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26080" y="3648456"/>
            <a:ext cx="731520" cy="429768"/>
          </a:xfrm>
          <a:prstGeom prst="line">
            <a:avLst/>
          </a:prstGeom>
          <a:noFill/>
          <a:ln w="29273">
            <a:solidFill>
              <a:srgbClr val="0071E3">
                <a:alpha val="6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26080" y="3648456"/>
            <a:ext cx="731520" cy="859536"/>
          </a:xfrm>
          <a:prstGeom prst="line">
            <a:avLst/>
          </a:prstGeom>
          <a:noFill/>
          <a:ln w="13589">
            <a:solidFill>
              <a:srgbClr val="0071E3">
                <a:alpha val="41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2926080" y="3218688"/>
            <a:ext cx="731520" cy="859536"/>
          </a:xfrm>
          <a:prstGeom prst="line">
            <a:avLst/>
          </a:prstGeom>
          <a:noFill/>
          <a:ln w="20828">
            <a:solidFill>
              <a:srgbClr val="0071E3">
                <a:alpha val="53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2926080" y="3648456"/>
            <a:ext cx="731520" cy="429768"/>
          </a:xfrm>
          <a:prstGeom prst="line">
            <a:avLst/>
          </a:prstGeom>
          <a:noFill/>
          <a:ln w="25654">
            <a:solidFill>
              <a:srgbClr val="0071E3">
                <a:alpha val="6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26080" y="4078224"/>
            <a:ext cx="731520" cy="0"/>
          </a:xfrm>
          <a:prstGeom prst="line">
            <a:avLst/>
          </a:prstGeom>
          <a:noFill/>
          <a:ln w="16002">
            <a:solidFill>
              <a:srgbClr val="0071E3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26080" y="4078224"/>
            <a:ext cx="731520" cy="429768"/>
          </a:xfrm>
          <a:prstGeom prst="line">
            <a:avLst/>
          </a:prstGeom>
          <a:noFill/>
          <a:ln w="30480">
            <a:solidFill>
              <a:srgbClr val="0071E3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2926080" y="3218688"/>
            <a:ext cx="731520" cy="1289304"/>
          </a:xfrm>
          <a:prstGeom prst="line">
            <a:avLst/>
          </a:prstGeom>
          <a:noFill/>
          <a:ln w="19622">
            <a:solidFill>
              <a:srgbClr val="0071E3">
                <a:alpha val="51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2926080" y="3648456"/>
            <a:ext cx="731520" cy="859536"/>
          </a:xfrm>
          <a:prstGeom prst="line">
            <a:avLst/>
          </a:prstGeom>
          <a:noFill/>
          <a:ln w="28067">
            <a:solidFill>
              <a:srgbClr val="0071E3">
                <a:alpha val="6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2926080" y="4078224"/>
            <a:ext cx="731520" cy="429768"/>
          </a:xfrm>
          <a:prstGeom prst="line">
            <a:avLst/>
          </a:prstGeom>
          <a:noFill/>
          <a:ln w="14796">
            <a:solidFill>
              <a:srgbClr val="0071E3">
                <a:alpha val="43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26080" y="4507992"/>
            <a:ext cx="731520" cy="0"/>
          </a:xfrm>
          <a:prstGeom prst="line">
            <a:avLst/>
          </a:prstGeom>
          <a:noFill/>
          <a:ln w="24447">
            <a:solidFill>
              <a:srgbClr val="0071E3">
                <a:alpha val="59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31920" y="3218688"/>
            <a:ext cx="1069848" cy="640080"/>
          </a:xfrm>
          <a:prstGeom prst="line">
            <a:avLst/>
          </a:prstGeom>
          <a:noFill/>
          <a:ln w="30480">
            <a:solidFill>
              <a:srgbClr val="0071E3">
                <a:alpha val="7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31920" y="3648456"/>
            <a:ext cx="1069848" cy="210312"/>
          </a:xfrm>
          <a:prstGeom prst="line">
            <a:avLst/>
          </a:prstGeom>
          <a:noFill/>
          <a:ln w="17209">
            <a:solidFill>
              <a:srgbClr val="0071E3">
                <a:alpha val="47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3931920" y="3858768"/>
            <a:ext cx="1069848" cy="219456"/>
          </a:xfrm>
          <a:prstGeom prst="line">
            <a:avLst/>
          </a:prstGeom>
          <a:noFill/>
          <a:ln w="22035">
            <a:solidFill>
              <a:srgbClr val="0071E3">
                <a:alpha val="5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3931920" y="3858768"/>
            <a:ext cx="1069848" cy="649224"/>
          </a:xfrm>
          <a:prstGeom prst="line">
            <a:avLst/>
          </a:prstGeom>
          <a:noFill/>
          <a:ln w="26861">
            <a:solidFill>
              <a:srgbClr val="0071E3">
                <a:alpha val="64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80160" y="3264408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9A9A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280160" y="3813048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9A9A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280160" y="4361688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9A9A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651760" y="3081528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DCF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51760" y="3511296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DCF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651760" y="3941064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DCF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51760" y="4370832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DCF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57600" y="3081528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DCF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57600" y="3511296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DCF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57600" y="3941064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DCF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57600" y="4370832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DCF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928616" y="3648456"/>
            <a:ext cx="420624" cy="420624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28616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0,82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68680" y="48828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Entrées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1554480" y="48828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4590288" y="48828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4453128" y="51023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une probabilité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14400" y="5422392"/>
            <a:ext cx="274320" cy="0"/>
          </a:xfrm>
          <a:prstGeom prst="line">
            <a:avLst/>
          </a:prstGeom>
          <a:noFill/>
          <a:ln w="33020">
            <a:solidFill>
              <a:srgbClr val="0071E3">
                <a:alpha val="6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261872" y="53126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épaisseur du trait = poids appris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914400" y="550468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 modèle, ce sont ces poids : des milliards de nombres figés après l'entraînement.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446520" y="2057400"/>
            <a:ext cx="5102352" cy="3703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38100" dir="8100000">
              <a:srgbClr val="000000">
                <a:alpha val="1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6720840" y="2212848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sort : une distribution, pas une réponse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720840" y="2615184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« La capitale de la France est… »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6720840" y="29077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Paris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781544" y="2953512"/>
            <a:ext cx="2788920" cy="137160"/>
          </a:xfrm>
          <a:prstGeom prst="rect">
            <a:avLst/>
          </a:prstGeom>
          <a:solidFill>
            <a:srgbClr val="F5F5F7"/>
          </a:solidFill>
          <a:ln/>
        </p:spPr>
      </p:sp>
      <p:sp>
        <p:nvSpPr>
          <p:cNvPr id="67" name="Shape 65"/>
          <p:cNvSpPr/>
          <p:nvPr/>
        </p:nvSpPr>
        <p:spPr>
          <a:xfrm>
            <a:off x="7781544" y="2953512"/>
            <a:ext cx="2565806" cy="137160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68" name="Text 66"/>
          <p:cNvSpPr/>
          <p:nvPr/>
        </p:nvSpPr>
        <p:spPr>
          <a:xfrm>
            <a:off x="10652760" y="290779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92 %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720840" y="31729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une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7781544" y="3218688"/>
            <a:ext cx="2788920" cy="137160"/>
          </a:xfrm>
          <a:prstGeom prst="rect">
            <a:avLst/>
          </a:prstGeom>
          <a:solidFill>
            <a:srgbClr val="F5F5F7"/>
          </a:solidFill>
          <a:ln/>
        </p:spPr>
      </p:sp>
      <p:sp>
        <p:nvSpPr>
          <p:cNvPr id="71" name="Shape 69"/>
          <p:cNvSpPr/>
          <p:nvPr/>
        </p:nvSpPr>
        <p:spPr>
          <a:xfrm>
            <a:off x="7781544" y="3218688"/>
            <a:ext cx="83668" cy="137160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72" name="Text 70"/>
          <p:cNvSpPr/>
          <p:nvPr/>
        </p:nvSpPr>
        <p:spPr>
          <a:xfrm>
            <a:off x="10652760" y="3172968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3 %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6720840" y="343814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Lyon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7781544" y="3483864"/>
            <a:ext cx="2788920" cy="137160"/>
          </a:xfrm>
          <a:prstGeom prst="rect">
            <a:avLst/>
          </a:prstGeom>
          <a:solidFill>
            <a:srgbClr val="F5F5F7"/>
          </a:solidFill>
          <a:ln/>
        </p:spPr>
      </p:sp>
      <p:sp>
        <p:nvSpPr>
          <p:cNvPr id="75" name="Shape 73"/>
          <p:cNvSpPr/>
          <p:nvPr/>
        </p:nvSpPr>
        <p:spPr>
          <a:xfrm>
            <a:off x="7781544" y="3483864"/>
            <a:ext cx="27889" cy="137160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76" name="Text 74"/>
          <p:cNvSpPr/>
          <p:nvPr/>
        </p:nvSpPr>
        <p:spPr>
          <a:xfrm>
            <a:off x="10652760" y="34381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1 %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6720840" y="3803904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« Le chiffre d'affaires 2025 de votre société est de… »</a:t>
            </a:r>
            <a:endParaRPr lang="en-US" sz="1150" dirty="0"/>
          </a:p>
        </p:txBody>
      </p:sp>
      <p:sp>
        <p:nvSpPr>
          <p:cNvPr id="78" name="Text 76"/>
          <p:cNvSpPr/>
          <p:nvPr/>
        </p:nvSpPr>
        <p:spPr>
          <a:xfrm>
            <a:off x="6720840" y="40965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2,4 M€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7781544" y="4142232"/>
            <a:ext cx="2788920" cy="137160"/>
          </a:xfrm>
          <a:prstGeom prst="rect">
            <a:avLst/>
          </a:prstGeom>
          <a:solidFill>
            <a:srgbClr val="F5F5F7"/>
          </a:solidFill>
          <a:ln/>
        </p:spPr>
      </p:sp>
      <p:sp>
        <p:nvSpPr>
          <p:cNvPr id="80" name="Shape 78"/>
          <p:cNvSpPr/>
          <p:nvPr/>
        </p:nvSpPr>
        <p:spPr>
          <a:xfrm>
            <a:off x="7781544" y="4142232"/>
            <a:ext cx="529895" cy="137160"/>
          </a:xfrm>
          <a:prstGeom prst="rect">
            <a:avLst/>
          </a:prstGeom>
          <a:solidFill>
            <a:srgbClr val="A04E00"/>
          </a:solidFill>
          <a:ln/>
        </p:spPr>
      </p:sp>
      <p:sp>
        <p:nvSpPr>
          <p:cNvPr id="81" name="Text 79"/>
          <p:cNvSpPr/>
          <p:nvPr/>
        </p:nvSpPr>
        <p:spPr>
          <a:xfrm>
            <a:off x="10652760" y="409651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19 %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6720840" y="43616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1,8 M€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7781544" y="4407408"/>
            <a:ext cx="2788920" cy="137160"/>
          </a:xfrm>
          <a:prstGeom prst="rect">
            <a:avLst/>
          </a:prstGeom>
          <a:solidFill>
            <a:srgbClr val="F5F5F7"/>
          </a:solidFill>
          <a:ln/>
        </p:spPr>
      </p:sp>
      <p:sp>
        <p:nvSpPr>
          <p:cNvPr id="84" name="Shape 82"/>
          <p:cNvSpPr/>
          <p:nvPr/>
        </p:nvSpPr>
        <p:spPr>
          <a:xfrm>
            <a:off x="7781544" y="4407408"/>
            <a:ext cx="474116" cy="137160"/>
          </a:xfrm>
          <a:prstGeom prst="rect">
            <a:avLst/>
          </a:prstGeom>
          <a:solidFill>
            <a:srgbClr val="A04E00"/>
          </a:solidFill>
          <a:ln/>
        </p:spPr>
      </p:sp>
      <p:sp>
        <p:nvSpPr>
          <p:cNvPr id="85" name="Text 83"/>
          <p:cNvSpPr/>
          <p:nvPr/>
        </p:nvSpPr>
        <p:spPr>
          <a:xfrm>
            <a:off x="10652760" y="4361688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17 %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6720840" y="462686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3,1 M€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7781544" y="4672584"/>
            <a:ext cx="2788920" cy="137160"/>
          </a:xfrm>
          <a:prstGeom prst="rect">
            <a:avLst/>
          </a:prstGeom>
          <a:solidFill>
            <a:srgbClr val="F5F5F7"/>
          </a:solidFill>
          <a:ln/>
        </p:spPr>
      </p:sp>
      <p:sp>
        <p:nvSpPr>
          <p:cNvPr id="88" name="Shape 86"/>
          <p:cNvSpPr/>
          <p:nvPr/>
        </p:nvSpPr>
        <p:spPr>
          <a:xfrm>
            <a:off x="7781544" y="4672584"/>
            <a:ext cx="446227" cy="137160"/>
          </a:xfrm>
          <a:prstGeom prst="rect">
            <a:avLst/>
          </a:prstGeom>
          <a:solidFill>
            <a:srgbClr val="A04E00"/>
          </a:solidFill>
          <a:ln/>
        </p:spPr>
      </p:sp>
      <p:sp>
        <p:nvSpPr>
          <p:cNvPr id="89" name="Text 87"/>
          <p:cNvSpPr/>
          <p:nvPr/>
        </p:nvSpPr>
        <p:spPr>
          <a:xfrm>
            <a:off x="10652760" y="462686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16 %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6720840" y="5029200"/>
            <a:ext cx="4553712" cy="566928"/>
          </a:xfrm>
          <a:prstGeom prst="rect">
            <a:avLst/>
          </a:prstGeom>
          <a:solidFill>
            <a:srgbClr val="FBF1E4"/>
          </a:solidFill>
          <a:ln/>
        </p:spPr>
      </p:sp>
      <p:sp>
        <p:nvSpPr>
          <p:cNvPr id="91" name="Text 89"/>
          <p:cNvSpPr/>
          <p:nvPr/>
        </p:nvSpPr>
        <p:spPr>
          <a:xfrm>
            <a:off x="6858000" y="5029200"/>
            <a:ext cx="4279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n'existe pas de case « je ne sais pas ».</a:t>
            </a:r>
            <a:endParaRPr lang="en-US" sz="1250" dirty="0"/>
          </a:p>
        </p:txBody>
      </p:sp>
      <p:sp>
        <p:nvSpPr>
          <p:cNvPr id="92" name="Text 90"/>
          <p:cNvSpPr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 séance : basculer d'un exemple à l'autre, puis demander au groupe où le modèle pourrait dire « je ne sais pas ».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04 · L'INFRASTRUCTURE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quoi ça tourne.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Les poids ne flottent pas dans le vide. Huit couches, de la terre jusqu'à votre écran.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006840" y="190195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SE MESURE EN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0" y="2148840"/>
            <a:ext cx="6675120" cy="365760"/>
          </a:xfrm>
          <a:prstGeom prst="rect">
            <a:avLst/>
          </a:prstGeom>
          <a:solidFill>
            <a:srgbClr val="E8F1FD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2148840"/>
            <a:ext cx="54864" cy="365760"/>
          </a:xfrm>
          <a:prstGeom prst="rect">
            <a:avLst/>
          </a:prstGeom>
          <a:solidFill>
            <a:srgbClr val="005BB8"/>
          </a:solidFill>
          <a:ln/>
        </p:spPr>
      </p:sp>
      <p:sp>
        <p:nvSpPr>
          <p:cNvPr id="8" name="Text 6"/>
          <p:cNvSpPr/>
          <p:nvPr/>
        </p:nvSpPr>
        <p:spPr>
          <a:xfrm>
            <a:off x="2212848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148840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application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006840" y="214884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 clics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011680" y="2587752"/>
            <a:ext cx="6675120" cy="365760"/>
          </a:xfrm>
          <a:prstGeom prst="rect">
            <a:avLst/>
          </a:prstGeom>
          <a:solidFill>
            <a:srgbClr val="E8F1FD"/>
          </a:solidFill>
          <a:ln/>
        </p:spPr>
      </p:sp>
      <p:sp>
        <p:nvSpPr>
          <p:cNvPr id="12" name="Shape 10"/>
          <p:cNvSpPr/>
          <p:nvPr/>
        </p:nvSpPr>
        <p:spPr>
          <a:xfrm>
            <a:off x="2011680" y="2587752"/>
            <a:ext cx="54864" cy="365760"/>
          </a:xfrm>
          <a:prstGeom prst="rect">
            <a:avLst/>
          </a:prstGeom>
          <a:solidFill>
            <a:srgbClr val="005BB8"/>
          </a:solidFill>
          <a:ln/>
        </p:spPr>
      </p:sp>
      <p:sp>
        <p:nvSpPr>
          <p:cNvPr id="13" name="Text 11"/>
          <p:cNvSpPr/>
          <p:nvPr/>
        </p:nvSpPr>
        <p:spPr>
          <a:xfrm>
            <a:off x="2212848" y="25877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24912" y="2587752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06840" y="2587752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 requêtes par minute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011680" y="3026664"/>
            <a:ext cx="6675120" cy="365760"/>
          </a:xfrm>
          <a:prstGeom prst="rect">
            <a:avLst/>
          </a:prstGeom>
          <a:solidFill>
            <a:srgbClr val="E8F1FD"/>
          </a:solidFill>
          <a:ln/>
        </p:spPr>
      </p:sp>
      <p:sp>
        <p:nvSpPr>
          <p:cNvPr id="17" name="Shape 15"/>
          <p:cNvSpPr/>
          <p:nvPr/>
        </p:nvSpPr>
        <p:spPr>
          <a:xfrm>
            <a:off x="2011680" y="3026664"/>
            <a:ext cx="54864" cy="365760"/>
          </a:xfrm>
          <a:prstGeom prst="rect">
            <a:avLst/>
          </a:prstGeom>
          <a:solidFill>
            <a:srgbClr val="005BB8"/>
          </a:solidFill>
          <a:ln/>
        </p:spPr>
      </p:sp>
      <p:sp>
        <p:nvSpPr>
          <p:cNvPr id="18" name="Text 16"/>
          <p:cNvSpPr/>
          <p:nvPr/>
        </p:nvSpPr>
        <p:spPr>
          <a:xfrm>
            <a:off x="2212848" y="30266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24912" y="3026664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service d'inférence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06840" y="3026664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 jetons par seconde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011680" y="3465576"/>
            <a:ext cx="6675120" cy="365760"/>
          </a:xfrm>
          <a:prstGeom prst="rect">
            <a:avLst/>
          </a:prstGeom>
          <a:solidFill>
            <a:srgbClr val="E8F1FD"/>
          </a:solidFill>
          <a:ln/>
        </p:spPr>
      </p:sp>
      <p:sp>
        <p:nvSpPr>
          <p:cNvPr id="22" name="Shape 20"/>
          <p:cNvSpPr/>
          <p:nvPr/>
        </p:nvSpPr>
        <p:spPr>
          <a:xfrm>
            <a:off x="2011680" y="3465576"/>
            <a:ext cx="54864" cy="365760"/>
          </a:xfrm>
          <a:prstGeom prst="rect">
            <a:avLst/>
          </a:prstGeom>
          <a:solidFill>
            <a:srgbClr val="005BB8"/>
          </a:solidFill>
          <a:ln/>
        </p:spPr>
      </p:sp>
      <p:sp>
        <p:nvSpPr>
          <p:cNvPr id="23" name="Text 21"/>
          <p:cNvSpPr/>
          <p:nvPr/>
        </p:nvSpPr>
        <p:spPr>
          <a:xfrm>
            <a:off x="2212848" y="34655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24912" y="3465576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L'orchestration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006840" y="3465576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 machines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011680" y="3904488"/>
            <a:ext cx="6675120" cy="365760"/>
          </a:xfrm>
          <a:prstGeom prst="rect">
            <a:avLst/>
          </a:prstGeom>
          <a:solidFill>
            <a:srgbClr val="CFE3FB"/>
          </a:solidFill>
          <a:ln/>
        </p:spPr>
      </p:sp>
      <p:sp>
        <p:nvSpPr>
          <p:cNvPr id="27" name="Shape 25"/>
          <p:cNvSpPr/>
          <p:nvPr/>
        </p:nvSpPr>
        <p:spPr>
          <a:xfrm>
            <a:off x="2011680" y="3904488"/>
            <a:ext cx="54864" cy="365760"/>
          </a:xfrm>
          <a:prstGeom prst="rect">
            <a:avLst/>
          </a:prstGeom>
          <a:solidFill>
            <a:srgbClr val="005BB8"/>
          </a:solidFill>
          <a:ln/>
        </p:spPr>
      </p:sp>
      <p:sp>
        <p:nvSpPr>
          <p:cNvPr id="28" name="Text 26"/>
          <p:cNvSpPr/>
          <p:nvPr/>
        </p:nvSpPr>
        <p:spPr>
          <a:xfrm>
            <a:off x="2212848" y="3904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24912" y="3904488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réseau interne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006840" y="390448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 gigaoctets par seconde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011680" y="4343400"/>
            <a:ext cx="6675120" cy="365760"/>
          </a:xfrm>
          <a:prstGeom prst="rect">
            <a:avLst/>
          </a:prstGeom>
          <a:solidFill>
            <a:srgbClr val="CFE3FB"/>
          </a:solidFill>
          <a:ln/>
        </p:spPr>
      </p:sp>
      <p:sp>
        <p:nvSpPr>
          <p:cNvPr id="32" name="Shape 30"/>
          <p:cNvSpPr/>
          <p:nvPr/>
        </p:nvSpPr>
        <p:spPr>
          <a:xfrm>
            <a:off x="2011680" y="4343400"/>
            <a:ext cx="54864" cy="365760"/>
          </a:xfrm>
          <a:prstGeom prst="rect">
            <a:avLst/>
          </a:prstGeom>
          <a:solidFill>
            <a:srgbClr val="005BB8"/>
          </a:solidFill>
          <a:ln/>
        </p:spPr>
      </p:sp>
      <p:sp>
        <p:nvSpPr>
          <p:cNvPr id="33" name="Text 31"/>
          <p:cNvSpPr/>
          <p:nvPr/>
        </p:nvSpPr>
        <p:spPr>
          <a:xfrm>
            <a:off x="2212848" y="4343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24912" y="4343400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calcul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006840" y="434340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 processeurs graphiques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011680" y="4782312"/>
            <a:ext cx="6675120" cy="365760"/>
          </a:xfrm>
          <a:prstGeom prst="rect">
            <a:avLst/>
          </a:prstGeom>
          <a:solidFill>
            <a:srgbClr val="E4E7ED"/>
          </a:solidFill>
          <a:ln/>
        </p:spPr>
      </p:sp>
      <p:sp>
        <p:nvSpPr>
          <p:cNvPr id="37" name="Shape 35"/>
          <p:cNvSpPr/>
          <p:nvPr/>
        </p:nvSpPr>
        <p:spPr>
          <a:xfrm>
            <a:off x="2011680" y="4782312"/>
            <a:ext cx="54864" cy="365760"/>
          </a:xfrm>
          <a:prstGeom prst="rect">
            <a:avLst/>
          </a:prstGeom>
          <a:solidFill>
            <a:srgbClr val="4A5060"/>
          </a:solidFill>
          <a:ln/>
        </p:spPr>
      </p:sp>
      <p:sp>
        <p:nvSpPr>
          <p:cNvPr id="38" name="Text 36"/>
          <p:cNvSpPr/>
          <p:nvPr/>
        </p:nvSpPr>
        <p:spPr>
          <a:xfrm>
            <a:off x="2212848" y="47823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724912" y="4782312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refroidissement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006840" y="4782312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 litres d'eau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2011680" y="5221224"/>
            <a:ext cx="6675120" cy="365760"/>
          </a:xfrm>
          <a:prstGeom prst="rect">
            <a:avLst/>
          </a:prstGeom>
          <a:solidFill>
            <a:srgbClr val="E4E7ED"/>
          </a:solidFill>
          <a:ln/>
        </p:spPr>
      </p:sp>
      <p:sp>
        <p:nvSpPr>
          <p:cNvPr id="42" name="Shape 40"/>
          <p:cNvSpPr/>
          <p:nvPr/>
        </p:nvSpPr>
        <p:spPr>
          <a:xfrm>
            <a:off x="2011680" y="5221224"/>
            <a:ext cx="54864" cy="365760"/>
          </a:xfrm>
          <a:prstGeom prst="rect">
            <a:avLst/>
          </a:prstGeom>
          <a:solidFill>
            <a:srgbClr val="4A5060"/>
          </a:solidFill>
          <a:ln/>
        </p:spPr>
      </p:sp>
      <p:sp>
        <p:nvSpPr>
          <p:cNvPr id="43" name="Text 41"/>
          <p:cNvSpPr/>
          <p:nvPr/>
        </p:nvSpPr>
        <p:spPr>
          <a:xfrm>
            <a:off x="2212848" y="52212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724912" y="5221224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et l'électricité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006840" y="5221224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 mégawatts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1847088" y="2148840"/>
            <a:ext cx="0" cy="1682496"/>
          </a:xfrm>
          <a:prstGeom prst="line">
            <a:avLst/>
          </a:prstGeom>
          <a:noFill/>
          <a:ln w="25400">
            <a:solidFill>
              <a:srgbClr val="A9A9A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28529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LOGICIEL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847088" y="3904488"/>
            <a:ext cx="0" cy="804672"/>
          </a:xfrm>
          <a:prstGeom prst="line">
            <a:avLst/>
          </a:prstGeom>
          <a:noFill/>
          <a:ln w="25400">
            <a:solidFill>
              <a:srgbClr val="A9A9A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41696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847088" y="4782312"/>
            <a:ext cx="0" cy="804672"/>
          </a:xfrm>
          <a:prstGeom prst="line">
            <a:avLst/>
          </a:prstGeom>
          <a:noFill/>
          <a:ln w="25400">
            <a:solidFill>
              <a:srgbClr val="A9A9A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50474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PHYSIQUE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solidFill>
            <a:srgbClr val="E8F1FD"/>
          </a:solidFill>
          <a:ln/>
        </p:spPr>
      </p:sp>
      <p:sp>
        <p:nvSpPr>
          <p:cNvPr id="53" name="Shape 51"/>
          <p:cNvSpPr/>
          <p:nvPr/>
        </p:nvSpPr>
        <p:spPr>
          <a:xfrm>
            <a:off x="640080" y="5897880"/>
            <a:ext cx="64008" cy="457200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54" name="Text 52"/>
          <p:cNvSpPr/>
          <p:nvPr/>
        </p:nvSpPr>
        <p:spPr>
          <a:xfrm>
            <a:off x="914400" y="589788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 n'installe pas un centre de données où l'on veut : on l'installe où il y a du courant disponible.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05 · L'EMPREINTE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coûte à la planète.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Deux échelles à ne jamais confondre : ce que coûte votre requête, et ce que coûte l'ensemble.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522144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2522144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2505456"/>
            <a:ext cx="2046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0,24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77824" y="3163824"/>
            <a:ext cx="204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 par requête texte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77824" y="3493008"/>
            <a:ext cx="2046656" cy="0"/>
          </a:xfrm>
          <a:prstGeom prst="line">
            <a:avLst/>
          </a:prstGeom>
          <a:noFill/>
          <a:ln w="12700">
            <a:solidFill>
              <a:srgbClr val="A9A9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3557016"/>
            <a:ext cx="2046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43 secondes de cerveau humain. Il en faudrait 2 000 pour égaler une journée de réflexion.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36544" y="2286000"/>
            <a:ext cx="2522144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36544" y="2286000"/>
            <a:ext cx="2522144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13" name="Text 11"/>
          <p:cNvSpPr/>
          <p:nvPr/>
        </p:nvSpPr>
        <p:spPr>
          <a:xfrm>
            <a:off x="3674288" y="2505456"/>
            <a:ext cx="2046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0,34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674288" y="3163824"/>
            <a:ext cx="204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Wh, autre estimation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74288" y="3493008"/>
            <a:ext cx="2046656" cy="0"/>
          </a:xfrm>
          <a:prstGeom prst="line">
            <a:avLst/>
          </a:prstGeom>
          <a:noFill/>
          <a:ln w="12700">
            <a:solidFill>
              <a:srgbClr val="A9A9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74288" y="3557016"/>
            <a:ext cx="2046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Une minute de cerveau. Recharger un téléphone consomme quarante fois plus.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33008" y="2286000"/>
            <a:ext cx="2522144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3008" y="2286000"/>
            <a:ext cx="2522144" cy="54864"/>
          </a:xfrm>
          <a:prstGeom prst="rect">
            <a:avLst/>
          </a:prstGeom>
          <a:solidFill>
            <a:srgbClr val="B85C00"/>
          </a:solidFill>
          <a:ln/>
        </p:spPr>
      </p:sp>
      <p:sp>
        <p:nvSpPr>
          <p:cNvPr id="19" name="Text 17"/>
          <p:cNvSpPr/>
          <p:nvPr/>
        </p:nvSpPr>
        <p:spPr>
          <a:xfrm>
            <a:off x="6470752" y="2505456"/>
            <a:ext cx="2046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72 816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470752" y="3163824"/>
            <a:ext cx="204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tonnes de CO₂e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70752" y="3493008"/>
            <a:ext cx="2046656" cy="0"/>
          </a:xfrm>
          <a:prstGeom prst="line">
            <a:avLst/>
          </a:prstGeom>
          <a:noFill/>
          <a:ln w="12700">
            <a:solidFill>
              <a:srgbClr val="A9A9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0752" y="3557016"/>
            <a:ext cx="2046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L'entraînement d'un seul modèle : autant que 8 900 Français pendant un an.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29471" y="2286000"/>
            <a:ext cx="2522144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029471" y="2286000"/>
            <a:ext cx="2522144" cy="54864"/>
          </a:xfrm>
          <a:prstGeom prst="rect">
            <a:avLst/>
          </a:prstGeom>
          <a:solidFill>
            <a:srgbClr val="B85C00"/>
          </a:solidFill>
          <a:ln/>
        </p:spPr>
      </p:sp>
      <p:sp>
        <p:nvSpPr>
          <p:cNvPr id="25" name="Text 23"/>
          <p:cNvSpPr/>
          <p:nvPr/>
        </p:nvSpPr>
        <p:spPr>
          <a:xfrm>
            <a:off x="9267215" y="2505456"/>
            <a:ext cx="2046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945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9267215" y="3163824"/>
            <a:ext cx="204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TWh en 2030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267215" y="3493008"/>
            <a:ext cx="2046656" cy="0"/>
          </a:xfrm>
          <a:prstGeom prst="line">
            <a:avLst/>
          </a:prstGeom>
          <a:noFill/>
          <a:ln w="12700">
            <a:solidFill>
              <a:srgbClr val="A9A9A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67215" y="3557016"/>
            <a:ext cx="2046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Plus de deux fois la consommation électrique de la France, qui était de 451 TWh en 2025.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029200"/>
            <a:ext cx="10911535" cy="585216"/>
          </a:xfrm>
          <a:prstGeom prst="rect">
            <a:avLst/>
          </a:prstGeom>
          <a:solidFill>
            <a:srgbClr val="E8F1FD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" y="5029200"/>
            <a:ext cx="64008" cy="585216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029200"/>
            <a:ext cx="103628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 levier n'est pas d'utiliser moins l'IA, </a:t>
            </a:r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c'est de ne pas envoyer trente pages à chaque question.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40080" y="59436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Sources : Stanford AI Index 2026 · Google, rapport technique Gemini 2025 · AIE 2026 · RTE, bilan électrique 2025 · Insee, empreinte carbone 2024.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SUITE DU PROGRAMME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après la genèse.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Deux parcours, dans l'ordre. Le premier s'adresse à tout le monde, le second ne s'ouvre qu'après le module 07.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3949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11680"/>
            <a:ext cx="539496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94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Découverte · 12 modules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semaines · 15 à 20 min par module · aucun prérequis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98448" y="278892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Chronomètre — </a:t>
            </a:r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mesurer trois tâches avant de commencer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3026664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98448" y="302666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 que Claude fait — </a:t>
            </a:r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et ce qu'il ne fait pas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326440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98448" y="326440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CRAFT — </a:t>
            </a:r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contexte, rôle, action, format, tonalité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3502152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98448" y="350215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Confidentialité — </a:t>
            </a:r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 qu'on ne colle jamais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14400" y="3739896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98448" y="373989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Rédiger et reformuler — </a:t>
            </a:r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changer le ton sans changer le fond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4400" y="3977640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98448" y="397764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Lire un document — </a:t>
            </a:r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demander un angle, pas un résumé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4215384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98448" y="421538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Photo et capture — </a:t>
            </a:r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sortir du clavier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4400" y="445312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98448" y="445312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Vérifier avant d'envoyer — </a:t>
            </a:r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chiffres, noms, dates, citations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14400" y="4690872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98448" y="469087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Tableurs et données — </a:t>
            </a:r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 l'export brut au tableau lisible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14400" y="4928616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98448" y="492861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Projects — </a:t>
            </a:r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arrêter de réexpliquer son contexte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4400" y="5166360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98448" y="516636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Tâche répétitive — </a:t>
            </a:r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 faire un modèle réutilisable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14400" y="5404104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298448" y="54041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Démo de 5 minutes — </a:t>
            </a:r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avant, après, temps gagné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309360" y="2011680"/>
            <a:ext cx="31089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09360" y="2011680"/>
            <a:ext cx="3108960" cy="54864"/>
          </a:xfrm>
          <a:prstGeom prst="rect">
            <a:avLst/>
          </a:prstGeom>
          <a:solidFill>
            <a:srgbClr val="B85C00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Avancé · 7 modules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83680" y="24688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45 à 60 min · après le module 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83680" y="278892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49440" y="278892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slash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949440" y="298094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trois environnements, deux natures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583680" y="319125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49440" y="319125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 agent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949440" y="338328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qui décide de l'étape suivante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583680" y="359359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49440" y="359359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 des outils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949440" y="378561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lire, interroger, envoyer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583680" y="399592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49440" y="399592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Projects à Skills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949440" y="418795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capitaliser ce qui marche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583680" y="439826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949440" y="439826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et connecteurs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6949440" y="459028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brancher les vraies données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583680" y="480060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949440" y="480060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 de bout en bout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6949440" y="499262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sur une tâche volontairement étroite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583680" y="520293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949440" y="520293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Tester, chiffrer, encadrer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6949440" y="539496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coût, journal, procédure d'arrêt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9692640" y="2011680"/>
            <a:ext cx="1856232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03200" dist="38100" dir="8100000">
              <a:srgbClr val="000000">
                <a:alpha val="1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9692640" y="2011680"/>
            <a:ext cx="1856232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60" name="Text 58"/>
          <p:cNvSpPr/>
          <p:nvPr/>
        </p:nvSpPr>
        <p:spPr>
          <a:xfrm>
            <a:off x="9829800" y="219456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programme complet</a:t>
            </a:r>
            <a:endParaRPr lang="en-US" sz="1300" dirty="0"/>
          </a:p>
        </p:txBody>
      </p:sp>
      <p:pic>
        <p:nvPicPr>
          <p:cNvPr id="61" name="Image 0" descr="QR code vers arx-consulting.com/AITrain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2" y="2743200"/>
            <a:ext cx="1161288" cy="1161288"/>
          </a:xfrm>
          <a:prstGeom prst="rect">
            <a:avLst/>
          </a:prstGeom>
        </p:spPr>
      </p:pic>
      <p:sp>
        <p:nvSpPr>
          <p:cNvPr id="62" name="Text 59"/>
          <p:cNvSpPr/>
          <p:nvPr/>
        </p:nvSpPr>
        <p:spPr>
          <a:xfrm>
            <a:off x="9802368" y="3995928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71E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arx-consulting.com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71E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/AITraining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9829800" y="4572000"/>
            <a:ext cx="1581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Frise, chemin des données, limites, mythes et sources — tout est consultable et cliquable.</a:t>
            </a:r>
            <a:endParaRPr lang="en-US" sz="1050" dirty="0"/>
          </a:p>
        </p:txBody>
      </p:sp>
      <p:pic>
        <p:nvPicPr>
          <p:cNvPr id="64" name="Image 1" descr="Arx Consult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989320"/>
            <a:ext cx="320040" cy="347472"/>
          </a:xfrm>
          <a:prstGeom prst="rect">
            <a:avLst/>
          </a:prstGeom>
        </p:spPr>
      </p:pic>
      <p:sp>
        <p:nvSpPr>
          <p:cNvPr id="65" name="Text 61"/>
          <p:cNvSpPr/>
          <p:nvPr/>
        </p:nvSpPr>
        <p:spPr>
          <a:xfrm>
            <a:off x="1078992" y="60167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Arx Consulting · programme de formation interne</a:t>
            </a:r>
            <a:endParaRPr lang="en-US" sz="1100" dirty="0"/>
          </a:p>
        </p:txBody>
      </p:sp>
      <p:sp>
        <p:nvSpPr>
          <p:cNvPr id="66" name="Text 62"/>
          <p:cNvSpPr/>
          <p:nvPr/>
        </p:nvSpPr>
        <p:spPr>
          <a:xfrm>
            <a:off x="5943600" y="6016752"/>
            <a:ext cx="5605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Une obligation européenne de maîtrise de l'IA s'applique depuis février 2025. Ce programme en constitue la trace.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genèse de l'IA</dc:title>
  <dc:subject>Séance d'ouverture du programme AI Training</dc:subject>
  <dc:creator>Arx Consulting</dc:creator>
  <cp:lastModifiedBy>Arx Consulting</cp:lastModifiedBy>
  <cp:revision>1</cp:revision>
  <dcterms:created xsi:type="dcterms:W3CDTF">2026-08-14T11:49:45Z</dcterms:created>
  <dcterms:modified xsi:type="dcterms:W3CDTF">2026-08-14T11:49:45Z</dcterms:modified>
</cp:coreProperties>
</file>