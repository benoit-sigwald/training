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 CONSULTING · AI TRAINING · SÉANCE D'OUVERTURE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Soixante-dix ans,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douzaine de noms.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B2C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même projet — faire faire à une machine ce qui demande de l'intelligence — a changé d'étiquette à chaque fois que la précédente s'est dévaluée.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15400" y="841248"/>
            <a:ext cx="2633472" cy="219456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0071E3">
                <a:alpha val="4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15400" y="102412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098280" y="177393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minutes, une seule fois,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avant le module 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98280" y="239572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Aucun livrable. Un socle commun.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4297680"/>
            <a:ext cx="10911535" cy="0"/>
          </a:xfrm>
          <a:prstGeom prst="line">
            <a:avLst/>
          </a:prstGeom>
          <a:noFill/>
          <a:ln w="25400">
            <a:solidFill>
              <a:srgbClr val="2A35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3502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moindres carrés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B2C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Prédire avec des chiffres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954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5" name="Text 13"/>
          <p:cNvSpPr/>
          <p:nvPr/>
        </p:nvSpPr>
        <p:spPr>
          <a:xfrm>
            <a:off x="242316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2316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météo à la main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42316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B2C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véritable ancêtre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8406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 est inventé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29768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B2C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Conférence de Dartmouth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958584" y="4215384"/>
            <a:ext cx="164592" cy="164592"/>
          </a:xfrm>
          <a:prstGeom prst="ellipse">
            <a:avLst/>
          </a:prstGeom>
          <a:solidFill>
            <a:srgbClr val="E0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 · 87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7220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hivers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7220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B2C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mot devient un repoussoir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83310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04672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L'apprentissage profond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04672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B2C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moment où ça marche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70762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1" name="Text 29"/>
          <p:cNvSpPr/>
          <p:nvPr/>
        </p:nvSpPr>
        <p:spPr>
          <a:xfrm>
            <a:off x="992124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92124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grand public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92124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B2C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date, pas une percée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0" y="5376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08A2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orange, les deux hivers de l'IA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Quand un mot nouveau apparaît, demandez ce qu'il fait que le précédent ne faisait pas. Souvent, rien.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02 · OÙ PASSENT VOS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chemin de vos données.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Est-ce que mes données servent à entraîner le modèle ? » n'a pas de réponse unique : elle dépend de l'étape.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3423818" cy="54864"/>
          </a:xfrm>
          <a:prstGeom prst="rect">
            <a:avLst/>
          </a:prstGeom>
          <a:solidFill>
            <a:srgbClr val="D9DCE3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Préparation, hors ligne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sources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08760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08760" y="3877056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4261104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96112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documents sont copiés et stockés chez quelqu'un.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3938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83938" y="1965960"/>
            <a:ext cx="3423818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7" name="Text 25"/>
          <p:cNvSpPr/>
          <p:nvPr/>
        </p:nvSpPr>
        <p:spPr>
          <a:xfrm>
            <a:off x="4639970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demande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39970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Quelques secondes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39970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30" name="Text 28"/>
          <p:cNvSpPr/>
          <p:nvPr/>
        </p:nvSpPr>
        <p:spPr>
          <a:xfrm>
            <a:off x="4767986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52618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demande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39970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33" name="Text 31"/>
          <p:cNvSpPr/>
          <p:nvPr/>
        </p:nvSpPr>
        <p:spPr>
          <a:xfrm>
            <a:off x="4767986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52618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39970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0071E3"/>
          </a:solidFill>
          <a:ln/>
        </p:spPr>
      </p:sp>
      <p:sp>
        <p:nvSpPr>
          <p:cNvPr id="36" name="Text 34"/>
          <p:cNvSpPr/>
          <p:nvPr/>
        </p:nvSpPr>
        <p:spPr>
          <a:xfrm>
            <a:off x="4767986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2618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assemblé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639970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39" name="Text 37"/>
          <p:cNvSpPr/>
          <p:nvPr/>
        </p:nvSpPr>
        <p:spPr>
          <a:xfrm>
            <a:off x="4767986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252618" y="3877056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39970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42" name="Text 40"/>
          <p:cNvSpPr/>
          <p:nvPr/>
        </p:nvSpPr>
        <p:spPr>
          <a:xfrm>
            <a:off x="4767986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52618" y="4261104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639970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L'étape 08 est le point de sortie réel.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127797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127797" y="1965960"/>
            <a:ext cx="3423818" cy="54864"/>
          </a:xfrm>
          <a:prstGeom prst="rect">
            <a:avLst/>
          </a:prstGeom>
          <a:solidFill>
            <a:srgbClr val="D9DCE3"/>
          </a:solidFill>
          <a:ln/>
        </p:spPr>
      </p:sp>
      <p:sp>
        <p:nvSpPr>
          <p:cNvPr id="47" name="Text 45"/>
          <p:cNvSpPr/>
          <p:nvPr/>
        </p:nvSpPr>
        <p:spPr>
          <a:xfrm>
            <a:off x="8383829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83829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qui encadre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383829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50" name="Text 48"/>
          <p:cNvSpPr/>
          <p:nvPr/>
        </p:nvSpPr>
        <p:spPr>
          <a:xfrm>
            <a:off x="8511845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996477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actions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383829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53" name="Text 51"/>
          <p:cNvSpPr/>
          <p:nvPr/>
        </p:nvSpPr>
        <p:spPr>
          <a:xfrm>
            <a:off x="8511845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996477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humaine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83829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7F7FA"/>
          </a:solidFill>
          <a:ln/>
        </p:spPr>
      </p:sp>
      <p:sp>
        <p:nvSpPr>
          <p:cNvPr id="56" name="Text 54"/>
          <p:cNvSpPr/>
          <p:nvPr/>
        </p:nvSpPr>
        <p:spPr>
          <a:xfrm>
            <a:off x="8511845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996477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&amp; coûts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383829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Sans journal, impossible d'expliquer une réponse aberrante ni d'estimer un coût.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40080" y="5806440"/>
            <a:ext cx="10911535" cy="530352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0" name="Shape 58"/>
          <p:cNvSpPr/>
          <p:nvPr/>
        </p:nvSpPr>
        <p:spPr>
          <a:xfrm>
            <a:off x="640080" y="5806440"/>
            <a:ext cx="64008" cy="53035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1" name="Text 59"/>
          <p:cNvSpPr/>
          <p:nvPr/>
        </p:nvSpPr>
        <p:spPr>
          <a:xfrm>
            <a:off x="914400" y="580644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données sortent à l'étape 08</a:t>
            </a:r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—  et la fuite la plus fréquente vient de l'étape 06 : ce qu'on colle sans y penser.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03 · LE MÉCANISME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y a dans la boîte.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n'est pas un cerveau. Un neurone additionne ce qui lui arrive, chaque signal multiplié par son poids.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48640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12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Entrées, couches, sortie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Chaque trait porte un poids : c'est ce qui est appris.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527048" y="3246120"/>
            <a:ext cx="1060704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27048" y="32461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3246120"/>
            <a:ext cx="1060704" cy="13716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7048" y="32461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27048" y="3931920"/>
            <a:ext cx="1060704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27048" y="39319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527048" y="3246120"/>
            <a:ext cx="1060704" cy="13716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527048" y="39319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27048" y="4617720"/>
            <a:ext cx="1060704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98648" y="3246120"/>
            <a:ext cx="1060704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2461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98648" y="3246120"/>
            <a:ext cx="1060704" cy="13716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898648" y="32461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98648" y="3931920"/>
            <a:ext cx="1060704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98648" y="39319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898648" y="3246120"/>
            <a:ext cx="1060704" cy="13716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898648" y="39319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98648" y="4617720"/>
            <a:ext cx="1060704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0248" y="32461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3931920"/>
            <a:ext cx="1060704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70248" y="3931920"/>
            <a:ext cx="1060704" cy="68580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161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161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161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877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877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877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93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593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593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30952" y="3776472"/>
            <a:ext cx="310896" cy="310896"/>
          </a:xfrm>
          <a:prstGeom prst="ellipse">
            <a:avLst/>
          </a:prstGeom>
          <a:solidFill>
            <a:srgbClr val="E8F1FD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0848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1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4564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2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8280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1440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modèle, ce sont ces poids : des centaines de milliards de nombres, figés à la fin de l'entraînement.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2057400"/>
            <a:ext cx="5102352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720840" y="2212848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sort : une distribution, pas une réponse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720840" y="261518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La capitale de la France est… »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720840" y="290779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Paris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81544" y="2953512"/>
            <a:ext cx="2788920" cy="1371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49" name="Shape 47"/>
          <p:cNvSpPr/>
          <p:nvPr/>
        </p:nvSpPr>
        <p:spPr>
          <a:xfrm>
            <a:off x="7781544" y="2953512"/>
            <a:ext cx="2565806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0" name="Text 48"/>
          <p:cNvSpPr/>
          <p:nvPr/>
        </p:nvSpPr>
        <p:spPr>
          <a:xfrm>
            <a:off x="10652760" y="29077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72084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781544" y="3218688"/>
            <a:ext cx="2788920" cy="1371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53" name="Shape 51"/>
          <p:cNvSpPr/>
          <p:nvPr/>
        </p:nvSpPr>
        <p:spPr>
          <a:xfrm>
            <a:off x="7781544" y="3218688"/>
            <a:ext cx="83668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10652760" y="317296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720840" y="34381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Lyon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81544" y="3483864"/>
            <a:ext cx="2788920" cy="1371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57" name="Shape 55"/>
          <p:cNvSpPr/>
          <p:nvPr/>
        </p:nvSpPr>
        <p:spPr>
          <a:xfrm>
            <a:off x="7781544" y="3483864"/>
            <a:ext cx="27889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8" name="Text 56"/>
          <p:cNvSpPr/>
          <p:nvPr/>
        </p:nvSpPr>
        <p:spPr>
          <a:xfrm>
            <a:off x="10652760" y="3438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20840" y="380390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Le chiffre d'affaires 2025 de votre société est de… »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672084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2,4 M€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781544" y="4142232"/>
            <a:ext cx="2788920" cy="1371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62" name="Shape 60"/>
          <p:cNvSpPr/>
          <p:nvPr/>
        </p:nvSpPr>
        <p:spPr>
          <a:xfrm>
            <a:off x="7781544" y="4142232"/>
            <a:ext cx="529895" cy="137160"/>
          </a:xfrm>
          <a:prstGeom prst="rect">
            <a:avLst/>
          </a:prstGeom>
          <a:solidFill>
            <a:srgbClr val="E08A2E"/>
          </a:solidFill>
          <a:ln/>
        </p:spPr>
      </p:sp>
      <p:sp>
        <p:nvSpPr>
          <p:cNvPr id="63" name="Text 61"/>
          <p:cNvSpPr/>
          <p:nvPr/>
        </p:nvSpPr>
        <p:spPr>
          <a:xfrm>
            <a:off x="10652760" y="40965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19 %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720840" y="43616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1,8 M€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781544" y="4407408"/>
            <a:ext cx="2788920" cy="1371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66" name="Shape 64"/>
          <p:cNvSpPr/>
          <p:nvPr/>
        </p:nvSpPr>
        <p:spPr>
          <a:xfrm>
            <a:off x="7781544" y="4407408"/>
            <a:ext cx="474116" cy="137160"/>
          </a:xfrm>
          <a:prstGeom prst="rect">
            <a:avLst/>
          </a:prstGeom>
          <a:solidFill>
            <a:srgbClr val="E08A2E"/>
          </a:solidFill>
          <a:ln/>
        </p:spPr>
      </p:sp>
      <p:sp>
        <p:nvSpPr>
          <p:cNvPr id="67" name="Text 65"/>
          <p:cNvSpPr/>
          <p:nvPr/>
        </p:nvSpPr>
        <p:spPr>
          <a:xfrm>
            <a:off x="10652760" y="436168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17 %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720840" y="462686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3,1 M€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781544" y="4672584"/>
            <a:ext cx="2788920" cy="1371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70" name="Shape 68"/>
          <p:cNvSpPr/>
          <p:nvPr/>
        </p:nvSpPr>
        <p:spPr>
          <a:xfrm>
            <a:off x="7781544" y="4672584"/>
            <a:ext cx="446227" cy="137160"/>
          </a:xfrm>
          <a:prstGeom prst="rect">
            <a:avLst/>
          </a:prstGeom>
          <a:solidFill>
            <a:srgbClr val="E08A2E"/>
          </a:solidFill>
          <a:ln/>
        </p:spPr>
      </p:sp>
      <p:sp>
        <p:nvSpPr>
          <p:cNvPr id="71" name="Text 69"/>
          <p:cNvSpPr/>
          <p:nvPr/>
        </p:nvSpPr>
        <p:spPr>
          <a:xfrm>
            <a:off x="10652760" y="462686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16 %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720840" y="5029200"/>
            <a:ext cx="4553712" cy="566928"/>
          </a:xfrm>
          <a:prstGeom prst="rect">
            <a:avLst/>
          </a:prstGeom>
          <a:solidFill>
            <a:srgbClr val="FBF1E4"/>
          </a:solidFill>
          <a:ln/>
        </p:spPr>
      </p:sp>
      <p:sp>
        <p:nvSpPr>
          <p:cNvPr id="73" name="Text 71"/>
          <p:cNvSpPr/>
          <p:nvPr/>
        </p:nvSpPr>
        <p:spPr>
          <a:xfrm>
            <a:off x="6858000" y="5029200"/>
            <a:ext cx="4279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case « je ne sais pas ».</a:t>
            </a:r>
            <a:endParaRPr lang="en-US" sz="1250" dirty="0"/>
          </a:p>
        </p:txBody>
      </p:sp>
      <p:sp>
        <p:nvSpPr>
          <p:cNvPr id="74" name="Text 72"/>
          <p:cNvSpPr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séance : basculer d'un exemple à l'autre, puis demander au groupe où le modèle pourrait dire « je ne sais pas ».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04 · L'INFRASTRUCTURE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quoi ça tourne.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Les poids ne flottent pas dans le vide. Huit couches, de la terre jusqu'à votre écran.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06840" y="190195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SE MESURE EN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11680" y="2148840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2148840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6"/>
          <p:cNvSpPr/>
          <p:nvPr/>
        </p:nvSpPr>
        <p:spPr>
          <a:xfrm>
            <a:off x="221284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24912" y="214884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application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006840" y="2148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clics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11680" y="2587752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2587752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1"/>
          <p:cNvSpPr/>
          <p:nvPr/>
        </p:nvSpPr>
        <p:spPr>
          <a:xfrm>
            <a:off x="2212848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24912" y="258775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06840" y="258775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requêtes par minute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11680" y="3026664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7" name="Shape 15"/>
          <p:cNvSpPr/>
          <p:nvPr/>
        </p:nvSpPr>
        <p:spPr>
          <a:xfrm>
            <a:off x="2011680" y="3026664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8" name="Text 16"/>
          <p:cNvSpPr/>
          <p:nvPr/>
        </p:nvSpPr>
        <p:spPr>
          <a:xfrm>
            <a:off x="2212848" y="30266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24912" y="302666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d'inférence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30266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jetons par seconde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011680" y="3465576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2011680" y="3465576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3" name="Text 21"/>
          <p:cNvSpPr/>
          <p:nvPr/>
        </p:nvSpPr>
        <p:spPr>
          <a:xfrm>
            <a:off x="2212848" y="34655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24912" y="3465576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L'orchestration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06840" y="346557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machines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011680" y="3904488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011680" y="3904488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8" name="Text 26"/>
          <p:cNvSpPr/>
          <p:nvPr/>
        </p:nvSpPr>
        <p:spPr>
          <a:xfrm>
            <a:off x="2212848" y="3904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24912" y="390448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interne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006840" y="390448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gigaoctets par seconde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011680" y="4343400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32" name="Shape 30"/>
          <p:cNvSpPr/>
          <p:nvPr/>
        </p:nvSpPr>
        <p:spPr>
          <a:xfrm>
            <a:off x="2011680" y="4343400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3" name="Text 31"/>
          <p:cNvSpPr/>
          <p:nvPr/>
        </p:nvSpPr>
        <p:spPr>
          <a:xfrm>
            <a:off x="2212848" y="4343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24912" y="434340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006840" y="43434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processeurs graphiques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011680" y="4782312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37" name="Shape 35"/>
          <p:cNvSpPr/>
          <p:nvPr/>
        </p:nvSpPr>
        <p:spPr>
          <a:xfrm>
            <a:off x="2011680" y="4782312"/>
            <a:ext cx="54864" cy="365760"/>
          </a:xfrm>
          <a:prstGeom prst="rect">
            <a:avLst/>
          </a:prstGeom>
          <a:solidFill>
            <a:srgbClr val="5A6070"/>
          </a:solidFill>
          <a:ln/>
        </p:spPr>
      </p:sp>
      <p:sp>
        <p:nvSpPr>
          <p:cNvPr id="38" name="Text 36"/>
          <p:cNvSpPr/>
          <p:nvPr/>
        </p:nvSpPr>
        <p:spPr>
          <a:xfrm>
            <a:off x="2212848" y="4782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24912" y="478231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refroidissement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06840" y="478231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litres d'eau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2011680" y="5221224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42" name="Shape 40"/>
          <p:cNvSpPr/>
          <p:nvPr/>
        </p:nvSpPr>
        <p:spPr>
          <a:xfrm>
            <a:off x="2011680" y="5221224"/>
            <a:ext cx="54864" cy="365760"/>
          </a:xfrm>
          <a:prstGeom prst="rect">
            <a:avLst/>
          </a:prstGeom>
          <a:solidFill>
            <a:srgbClr val="5A6070"/>
          </a:solidFill>
          <a:ln/>
        </p:spPr>
      </p:sp>
      <p:sp>
        <p:nvSpPr>
          <p:cNvPr id="43" name="Text 41"/>
          <p:cNvSpPr/>
          <p:nvPr/>
        </p:nvSpPr>
        <p:spPr>
          <a:xfrm>
            <a:off x="2212848" y="52212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724912" y="522122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et l'électricité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06840" y="522122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mégawatts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1847088" y="2148840"/>
            <a:ext cx="0" cy="1682496"/>
          </a:xfrm>
          <a:prstGeom prst="line">
            <a:avLst/>
          </a:prstGeom>
          <a:noFill/>
          <a:ln w="25400">
            <a:solidFill>
              <a:srgbClr val="D9DCE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2852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47088" y="3904488"/>
            <a:ext cx="0" cy="804672"/>
          </a:xfrm>
          <a:prstGeom prst="line">
            <a:avLst/>
          </a:prstGeom>
          <a:noFill/>
          <a:ln w="25400">
            <a:solidFill>
              <a:srgbClr val="D9DC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1696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MATÉRIEL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47088" y="4782312"/>
            <a:ext cx="0" cy="804672"/>
          </a:xfrm>
          <a:prstGeom prst="line">
            <a:avLst/>
          </a:prstGeom>
          <a:noFill/>
          <a:ln w="25400">
            <a:solidFill>
              <a:srgbClr val="D9DCE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50474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solidFill>
            <a:srgbClr val="EDEFF3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" y="5897880"/>
            <a:ext cx="6400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n'installe pas un centre de données où l'on veut : on l'installe où il y a du courant disponible.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05 · L'EMPREINTE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 à la planète.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B2C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échelles à ne jamais confondre : ce que coûte votre requête, et ce que coûte l'ensemble.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22144" cy="233172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77824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 par requête 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7824" y="3493008"/>
            <a:ext cx="2046656" cy="0"/>
          </a:xfrm>
          <a:prstGeom prst="line">
            <a:avLst/>
          </a:prstGeom>
          <a:noFill/>
          <a:ln w="12700">
            <a:solidFill>
              <a:srgbClr val="2A35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 secondes de cerveau humain. Il en faudrait 2 000 pour égaler une journée de réflexion.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36544" y="2286000"/>
            <a:ext cx="2522144" cy="233172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436544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1"/>
          <p:cNvSpPr/>
          <p:nvPr/>
        </p:nvSpPr>
        <p:spPr>
          <a:xfrm>
            <a:off x="3674288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0,34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674288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Wh, autre estimation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74288" y="3493008"/>
            <a:ext cx="2046656" cy="0"/>
          </a:xfrm>
          <a:prstGeom prst="line">
            <a:avLst/>
          </a:prstGeom>
          <a:noFill/>
          <a:ln w="12700">
            <a:solidFill>
              <a:srgbClr val="2A35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74288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minute de cerveau. Recharger un téléphone consomme quarante fois plus.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3008" y="2286000"/>
            <a:ext cx="2522144" cy="233172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233008" y="2286000"/>
            <a:ext cx="2522144" cy="54864"/>
          </a:xfrm>
          <a:prstGeom prst="rect">
            <a:avLst/>
          </a:prstGeom>
          <a:solidFill>
            <a:srgbClr val="E08A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70752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72 816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470752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 de CO₂e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70752" y="3493008"/>
            <a:ext cx="2046656" cy="0"/>
          </a:xfrm>
          <a:prstGeom prst="line">
            <a:avLst/>
          </a:prstGeom>
          <a:noFill/>
          <a:ln w="12700">
            <a:solidFill>
              <a:srgbClr val="2A35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0752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L'entraînement d'un seul modèle : autant que 8 900 Français pendant un 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29471" y="2286000"/>
            <a:ext cx="2522144" cy="233172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029471" y="2286000"/>
            <a:ext cx="2522144" cy="54864"/>
          </a:xfrm>
          <a:prstGeom prst="rect">
            <a:avLst/>
          </a:prstGeom>
          <a:solidFill>
            <a:srgbClr val="E08A2E"/>
          </a:solidFill>
          <a:ln/>
        </p:spPr>
      </p:sp>
      <p:sp>
        <p:nvSpPr>
          <p:cNvPr id="25" name="Text 23"/>
          <p:cNvSpPr/>
          <p:nvPr/>
        </p:nvSpPr>
        <p:spPr>
          <a:xfrm>
            <a:off x="9267215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945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267215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TWh en 2030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267215" y="3493008"/>
            <a:ext cx="2046656" cy="0"/>
          </a:xfrm>
          <a:prstGeom prst="line">
            <a:avLst/>
          </a:prstGeom>
          <a:noFill/>
          <a:ln w="12700">
            <a:solidFill>
              <a:srgbClr val="2A35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7215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Plus de deux fois la consommation électrique de la France, qui était de 451 TWh en 2025.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911535" cy="585216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5029200"/>
            <a:ext cx="64008" cy="585216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029200"/>
            <a:ext cx="10362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levier n'est pas d'utiliser moins l'IA, </a:t>
            </a:r>
            <a:pPr indent="0" marL="0">
              <a:buNone/>
            </a:pPr>
            <a:r>
              <a:rPr lang="en-US" sz="135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c'est de ne pas envoyer trente pages à chaque question.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Sources : Stanford AI Index 2026 · Google, rapport technique Gemini 2025 · AIE 2026 · RTE, bilan électrique 2025 · Insee, empreinte carbone 2024.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genèse de l'IA</dc:title>
  <dc:subject>Séance d'ouverture du programme AI Training</dc:subject>
  <dc:creator>Arx Consulting</dc:creator>
  <cp:lastModifiedBy>Arx Consulting</cp:lastModifiedBy>
  <cp:revision>1</cp:revision>
  <dcterms:created xsi:type="dcterms:W3CDTF">2026-08-10T09:57:52Z</dcterms:created>
  <dcterms:modified xsi:type="dcterms:W3CDTF">2026-08-10T09:57:52Z</dcterms:modified>
</cp:coreProperties>
</file>